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86279E8-5473-4BF5-90A8-E8113079D578}" type="datetimeFigureOut">
              <a:rPr lang="en-IN" smtClean="0"/>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3906575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86279E8-5473-4BF5-90A8-E8113079D578}" type="datetimeFigureOut">
              <a:rPr lang="en-IN" smtClean="0"/>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1761598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86279E8-5473-4BF5-90A8-E8113079D578}" type="datetimeFigureOut">
              <a:rPr lang="en-IN" smtClean="0"/>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3738351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86279E8-5473-4BF5-90A8-E8113079D578}" type="datetimeFigureOut">
              <a:rPr lang="en-IN" smtClean="0"/>
              <a:t>09-03-2023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3236862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86279E8-5473-4BF5-90A8-E8113079D578}" type="datetimeFigureOut">
              <a:rPr lang="en-IN" smtClean="0"/>
              <a:t>09-03-2023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3318591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86279E8-5473-4BF5-90A8-E8113079D578}" type="datetimeFigureOut">
              <a:rPr lang="en-IN" smtClean="0"/>
              <a:t>09-03-2023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3162336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6279E8-5473-4BF5-90A8-E8113079D578}" type="datetimeFigureOut">
              <a:rPr lang="en-IN" smtClean="0"/>
              <a:t>09-03-2023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3088749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86279E8-5473-4BF5-90A8-E8113079D578}" type="datetimeFigureOut">
              <a:rPr lang="en-IN" smtClean="0"/>
              <a:t>09-03-2023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2334487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86279E8-5473-4BF5-90A8-E8113079D578}" type="datetimeFigureOut">
              <a:rPr lang="en-IN" smtClean="0"/>
              <a:t>09-03-2023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3686600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86279E8-5473-4BF5-90A8-E8113079D578}" type="datetimeFigureOut">
              <a:rPr lang="en-IN" smtClean="0"/>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3069363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86279E8-5473-4BF5-90A8-E8113079D578}" type="datetimeFigureOut">
              <a:rPr lang="en-IN" smtClean="0"/>
              <a:t>09-03-2023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79121D-5ED4-4539-A9BD-F9C02FD8AC36}" type="slidenum">
              <a:rPr lang="en-IN" smtClean="0"/>
              <a:t>‹#›</a:t>
            </a:fld>
            <a:endParaRPr lang="en-IN"/>
          </a:p>
        </p:txBody>
      </p:sp>
    </p:spTree>
    <p:extLst>
      <p:ext uri="{BB962C8B-B14F-4D97-AF65-F5344CB8AC3E}">
        <p14:creationId xmlns:p14="http://schemas.microsoft.com/office/powerpoint/2010/main" val="372427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6279E8-5473-4BF5-90A8-E8113079D578}" type="datetimeFigureOut">
              <a:rPr lang="en-IN" smtClean="0"/>
              <a:t>09-03-2023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79121D-5ED4-4539-A9BD-F9C02FD8AC36}" type="slidenum">
              <a:rPr lang="en-IN" smtClean="0"/>
              <a:t>‹#›</a:t>
            </a:fld>
            <a:endParaRPr lang="en-IN"/>
          </a:p>
        </p:txBody>
      </p:sp>
    </p:spTree>
    <p:extLst>
      <p:ext uri="{BB962C8B-B14F-4D97-AF65-F5344CB8AC3E}">
        <p14:creationId xmlns:p14="http://schemas.microsoft.com/office/powerpoint/2010/main" val="2993984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-3</a:t>
            </a:r>
            <a:endParaRPr lang="en-IN" dirty="0"/>
          </a:p>
        </p:txBody>
      </p:sp>
      <p:sp>
        <p:nvSpPr>
          <p:cNvPr id="3" name="Content Placeholder 2"/>
          <p:cNvSpPr>
            <a:spLocks noGrp="1"/>
          </p:cNvSpPr>
          <p:nvPr>
            <p:ph idx="1"/>
          </p:nvPr>
        </p:nvSpPr>
        <p:spPr/>
        <p:txBody>
          <a:bodyPr>
            <a:normAutofit lnSpcReduction="10000"/>
          </a:bodyPr>
          <a:lstStyle/>
          <a:p>
            <a:r>
              <a:rPr lang="en-US" dirty="0" smtClean="0"/>
              <a:t>Convolution layers, </a:t>
            </a:r>
          </a:p>
          <a:p>
            <a:r>
              <a:rPr lang="en-US" dirty="0" smtClean="0"/>
              <a:t>max pool layers, </a:t>
            </a:r>
          </a:p>
          <a:p>
            <a:r>
              <a:rPr lang="en-US" dirty="0" smtClean="0"/>
              <a:t>ELU Gradient Decent, </a:t>
            </a:r>
          </a:p>
          <a:p>
            <a:r>
              <a:rPr lang="en-US" dirty="0" smtClean="0"/>
              <a:t>training CNN-initialization, </a:t>
            </a:r>
          </a:p>
          <a:p>
            <a:r>
              <a:rPr lang="en-US" dirty="0" smtClean="0"/>
              <a:t>CNN architectures </a:t>
            </a:r>
          </a:p>
          <a:p>
            <a:r>
              <a:rPr lang="en-US" dirty="0" smtClean="0">
                <a:solidFill>
                  <a:srgbClr val="FF0000"/>
                </a:solidFill>
              </a:rPr>
              <a:t>VGG</a:t>
            </a:r>
            <a:r>
              <a:rPr lang="en-US" dirty="0" smtClean="0"/>
              <a:t>, Google Net, </a:t>
            </a:r>
            <a:r>
              <a:rPr lang="en-US" dirty="0" err="1" smtClean="0"/>
              <a:t>ResNet</a:t>
            </a:r>
            <a:r>
              <a:rPr lang="en-US" dirty="0" smtClean="0"/>
              <a:t>,</a:t>
            </a:r>
          </a:p>
          <a:p>
            <a:r>
              <a:rPr lang="en-US" dirty="0" smtClean="0"/>
              <a:t>dropout, normalization, </a:t>
            </a:r>
          </a:p>
          <a:p>
            <a:r>
              <a:rPr lang="en-US" dirty="0" smtClean="0"/>
              <a:t>rules update, </a:t>
            </a:r>
          </a:p>
          <a:p>
            <a:r>
              <a:rPr lang="en-US" dirty="0" smtClean="0"/>
              <a:t>data augmentation, transfer learning, </a:t>
            </a:r>
            <a:endParaRPr lang="en-IN" dirty="0" smtClean="0"/>
          </a:p>
          <a:p>
            <a:endParaRPr lang="en-IN" dirty="0"/>
          </a:p>
        </p:txBody>
      </p:sp>
    </p:spTree>
    <p:extLst>
      <p:ext uri="{BB962C8B-B14F-4D97-AF65-F5344CB8AC3E}">
        <p14:creationId xmlns:p14="http://schemas.microsoft.com/office/powerpoint/2010/main" val="12374987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VGG-16</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41874898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VGG Architecture</a:t>
            </a:r>
            <a:endParaRPr lang="en-IN" dirty="0"/>
          </a:p>
        </p:txBody>
      </p:sp>
      <p:sp>
        <p:nvSpPr>
          <p:cNvPr id="3" name="Content Placeholder 2"/>
          <p:cNvSpPr>
            <a:spLocks noGrp="1"/>
          </p:cNvSpPr>
          <p:nvPr>
            <p:ph idx="1"/>
          </p:nvPr>
        </p:nvSpPr>
        <p:spPr>
          <a:xfrm>
            <a:off x="838200" y="1528354"/>
            <a:ext cx="10515600" cy="4648609"/>
          </a:xfrm>
        </p:spPr>
        <p:txBody>
          <a:bodyPr>
            <a:normAutofit fontScale="92500" lnSpcReduction="10000"/>
          </a:bodyPr>
          <a:lstStyle/>
          <a:p>
            <a:r>
              <a:rPr lang="en-US" dirty="0"/>
              <a:t>The full name of VGG is the </a:t>
            </a:r>
            <a:r>
              <a:rPr lang="en-US" b="1" dirty="0"/>
              <a:t>Visual Geometry Group</a:t>
            </a:r>
            <a:r>
              <a:rPr lang="en-US" dirty="0"/>
              <a:t>, which belongs to the Department of Science and Engineering of Oxford University. </a:t>
            </a:r>
            <a:endParaRPr lang="en-US" dirty="0" smtClean="0"/>
          </a:p>
          <a:p>
            <a:r>
              <a:rPr lang="en-US" dirty="0" smtClean="0"/>
              <a:t>It </a:t>
            </a:r>
            <a:r>
              <a:rPr lang="en-US" dirty="0"/>
              <a:t>has released a series of convolutional network models beginning with VGG, which can be applied to face recognition and image classification, from VGG16 to VGG19</a:t>
            </a:r>
            <a:r>
              <a:rPr lang="en-US" dirty="0" smtClean="0"/>
              <a:t>.</a:t>
            </a:r>
          </a:p>
          <a:p>
            <a:r>
              <a:rPr lang="en-US" dirty="0"/>
              <a:t>The original purpose of VGG's research on the depth of convolutional networks is to understand how the depth of convolutional networks affects the accuracy and accuracy of large-scale image classification and recognition. </a:t>
            </a:r>
            <a:endParaRPr lang="en-US" dirty="0" smtClean="0"/>
          </a:p>
          <a:p>
            <a:r>
              <a:rPr lang="en-US" dirty="0" smtClean="0"/>
              <a:t>-</a:t>
            </a:r>
            <a:r>
              <a:rPr lang="en-US" dirty="0"/>
              <a:t>Deep-16 CNN), in order to deepen the number of network layers and to avoid too many parameters, a small 3x3 convolution kernel is used in all layers.</a:t>
            </a:r>
            <a:endParaRPr lang="en-IN" dirty="0"/>
          </a:p>
        </p:txBody>
      </p:sp>
    </p:spTree>
    <p:extLst>
      <p:ext uri="{BB962C8B-B14F-4D97-AF65-F5344CB8AC3E}">
        <p14:creationId xmlns:p14="http://schemas.microsoft.com/office/powerpoint/2010/main" val="27637541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Structure</a:t>
            </a:r>
            <a:endParaRPr lang="en-IN" dirty="0"/>
          </a:p>
        </p:txBody>
      </p:sp>
      <p:sp>
        <p:nvSpPr>
          <p:cNvPr id="3" name="Content Placeholder 2"/>
          <p:cNvSpPr>
            <a:spLocks noGrp="1"/>
          </p:cNvSpPr>
          <p:nvPr>
            <p:ph idx="1"/>
          </p:nvPr>
        </p:nvSpPr>
        <p:spPr>
          <a:xfrm>
            <a:off x="640079" y="1449976"/>
            <a:ext cx="10894423" cy="4924697"/>
          </a:xfrm>
        </p:spPr>
        <p:txBody>
          <a:bodyPr>
            <a:normAutofit fontScale="92500" lnSpcReduction="10000"/>
          </a:bodyPr>
          <a:lstStyle/>
          <a:p>
            <a:r>
              <a:rPr lang="en-US" dirty="0"/>
              <a:t>The input of VGG is set to an RGB image of 224x244 size. </a:t>
            </a:r>
            <a:endParaRPr lang="en-US" dirty="0" smtClean="0"/>
          </a:p>
          <a:p>
            <a:r>
              <a:rPr lang="en-US" dirty="0" smtClean="0"/>
              <a:t>The </a:t>
            </a:r>
            <a:r>
              <a:rPr lang="en-US" dirty="0"/>
              <a:t>average RGB value is calculated for all images on the training set image, and then the image is input as an input to the VGG convolution network. </a:t>
            </a:r>
            <a:endParaRPr lang="en-US" dirty="0" smtClean="0"/>
          </a:p>
          <a:p>
            <a:r>
              <a:rPr lang="en-US" dirty="0" smtClean="0"/>
              <a:t>A </a:t>
            </a:r>
            <a:r>
              <a:rPr lang="en-US" dirty="0"/>
              <a:t>3x3 or 1x1 filter is used, and the convolution step is fixed. </a:t>
            </a:r>
          </a:p>
          <a:p>
            <a:r>
              <a:rPr lang="en-US" dirty="0" smtClean="0"/>
              <a:t>There </a:t>
            </a:r>
            <a:r>
              <a:rPr lang="en-US" dirty="0"/>
              <a:t>are 3 VGG fully connected layers, which can vary from VGG11 to VGG19 according to the total number of convolutional layers + fully connected layers. </a:t>
            </a:r>
            <a:endParaRPr lang="en-US" dirty="0" smtClean="0"/>
          </a:p>
          <a:p>
            <a:r>
              <a:rPr lang="en-US" dirty="0" smtClean="0"/>
              <a:t>The </a:t>
            </a:r>
            <a:r>
              <a:rPr lang="en-US" dirty="0"/>
              <a:t>minimum VGG11 has 8 convolutional layers and 3 fully connected layers. </a:t>
            </a:r>
            <a:endParaRPr lang="en-US" dirty="0" smtClean="0"/>
          </a:p>
          <a:p>
            <a:r>
              <a:rPr lang="en-US" dirty="0" smtClean="0"/>
              <a:t>The </a:t>
            </a:r>
            <a:r>
              <a:rPr lang="en-US" dirty="0"/>
              <a:t>maximum VGG19 has 16 convolutional layers. +3 fully connected layers</a:t>
            </a:r>
            <a:r>
              <a:rPr lang="en-US" dirty="0" smtClean="0"/>
              <a:t>.</a:t>
            </a:r>
          </a:p>
          <a:p>
            <a:r>
              <a:rPr lang="en-US" dirty="0" smtClean="0"/>
              <a:t> </a:t>
            </a:r>
            <a:r>
              <a:rPr lang="en-US" dirty="0"/>
              <a:t>In addition, the VGG network is not followed by a pooling layer behind each convolutional layer, or a total of 5 pooling layers distributed under different convolutional layers. </a:t>
            </a:r>
            <a:endParaRPr lang="en-IN" dirty="0"/>
          </a:p>
        </p:txBody>
      </p:sp>
    </p:spTree>
    <p:extLst>
      <p:ext uri="{BB962C8B-B14F-4D97-AF65-F5344CB8AC3E}">
        <p14:creationId xmlns:p14="http://schemas.microsoft.com/office/powerpoint/2010/main" val="24652152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40525" y="557212"/>
            <a:ext cx="9415599" cy="5304121"/>
          </a:xfrm>
          <a:prstGeom prst="rect">
            <a:avLst/>
          </a:prstGeom>
        </p:spPr>
      </p:pic>
    </p:spTree>
    <p:extLst>
      <p:ext uri="{BB962C8B-B14F-4D97-AF65-F5344CB8AC3E}">
        <p14:creationId xmlns:p14="http://schemas.microsoft.com/office/powerpoint/2010/main" val="24736775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22022" y="1837716"/>
            <a:ext cx="11669978" cy="3230672"/>
          </a:xfrm>
          <a:prstGeom prst="rect">
            <a:avLst/>
          </a:prstGeom>
        </p:spPr>
      </p:pic>
    </p:spTree>
    <p:extLst>
      <p:ext uri="{BB962C8B-B14F-4D97-AF65-F5344CB8AC3E}">
        <p14:creationId xmlns:p14="http://schemas.microsoft.com/office/powerpoint/2010/main" val="30534888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VGG16 contains 16 layers and VGG19 contains 19 layers</a:t>
            </a:r>
            <a:r>
              <a:rPr lang="en-US" dirty="0" smtClean="0"/>
              <a:t>.</a:t>
            </a:r>
          </a:p>
          <a:p>
            <a:r>
              <a:rPr lang="en-US" dirty="0" smtClean="0"/>
              <a:t> </a:t>
            </a:r>
            <a:r>
              <a:rPr lang="en-US" dirty="0"/>
              <a:t>A series of VGGs are exactly the same in the last three fully connected layers. </a:t>
            </a:r>
            <a:endParaRPr lang="en-US" dirty="0" smtClean="0"/>
          </a:p>
          <a:p>
            <a:r>
              <a:rPr lang="en-US" dirty="0" smtClean="0"/>
              <a:t>The </a:t>
            </a:r>
            <a:r>
              <a:rPr lang="en-US" dirty="0"/>
              <a:t>overall structure includes 5 sets of convolutional layers, followed by a </a:t>
            </a:r>
            <a:r>
              <a:rPr lang="en-US" dirty="0" err="1"/>
              <a:t>MaxPool</a:t>
            </a:r>
            <a:r>
              <a:rPr lang="en-US" dirty="0"/>
              <a:t>. </a:t>
            </a:r>
            <a:endParaRPr lang="en-US" dirty="0" smtClean="0"/>
          </a:p>
          <a:p>
            <a:r>
              <a:rPr lang="en-US" dirty="0" smtClean="0"/>
              <a:t>The </a:t>
            </a:r>
            <a:r>
              <a:rPr lang="en-US" dirty="0"/>
              <a:t>difference is that more and more cascaded convolutional layers are included in the five sets of convolutional layers .</a:t>
            </a:r>
          </a:p>
          <a:p>
            <a:endParaRPr lang="en-IN" dirty="0"/>
          </a:p>
        </p:txBody>
      </p:sp>
    </p:spTree>
    <p:extLst>
      <p:ext uri="{BB962C8B-B14F-4D97-AF65-F5344CB8AC3E}">
        <p14:creationId xmlns:p14="http://schemas.microsoft.com/office/powerpoint/2010/main" val="10240726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9845" y="477474"/>
            <a:ext cx="9968634" cy="6380526"/>
          </a:xfrm>
          <a:prstGeom prst="rect">
            <a:avLst/>
          </a:prstGeom>
        </p:spPr>
      </p:pic>
    </p:spTree>
    <p:extLst>
      <p:ext uri="{BB962C8B-B14F-4D97-AF65-F5344CB8AC3E}">
        <p14:creationId xmlns:p14="http://schemas.microsoft.com/office/powerpoint/2010/main" val="10180654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Special features</a:t>
            </a:r>
            <a:endParaRPr lang="en-IN" dirty="0"/>
          </a:p>
        </p:txBody>
      </p:sp>
      <p:sp>
        <p:nvSpPr>
          <p:cNvPr id="3" name="Content Placeholder 2"/>
          <p:cNvSpPr>
            <a:spLocks noGrp="1"/>
          </p:cNvSpPr>
          <p:nvPr>
            <p:ph idx="1"/>
          </p:nvPr>
        </p:nvSpPr>
        <p:spPr/>
        <p:txBody>
          <a:bodyPr>
            <a:normAutofit fontScale="92500" lnSpcReduction="10000"/>
          </a:bodyPr>
          <a:lstStyle/>
          <a:p>
            <a:r>
              <a:rPr lang="en-US" b="1" dirty="0"/>
              <a:t>Input—</a:t>
            </a:r>
            <a:r>
              <a:rPr lang="en-US" dirty="0" err="1"/>
              <a:t>VGGNet</a:t>
            </a:r>
            <a:r>
              <a:rPr lang="en-US" dirty="0"/>
              <a:t> receives a 224×224 image input. In the ImageNet competition, the model’s creators kept the image input size constant by cropping a 224×224 section from the center of each image.</a:t>
            </a:r>
          </a:p>
          <a:p>
            <a:r>
              <a:rPr lang="en-US" dirty="0"/>
              <a:t>all the VGG network’s hidden layers use </a:t>
            </a:r>
            <a:r>
              <a:rPr lang="en-US" dirty="0" err="1" smtClean="0"/>
              <a:t>ReLU</a:t>
            </a:r>
            <a:endParaRPr lang="en-US" dirty="0" smtClean="0"/>
          </a:p>
          <a:p>
            <a:r>
              <a:rPr lang="en-US" dirty="0"/>
              <a:t>A pooling layer follows several convolutional layers—this helps reduce the dimensionality and the number of parameters of the feature maps created by each convolution step. Pooling is crucial given the rapid growth of the number of available filters from 64 to 128, 256, and eventually 512 in the final layers</a:t>
            </a:r>
            <a:r>
              <a:rPr lang="en-US" dirty="0" smtClean="0"/>
              <a:t>.</a:t>
            </a:r>
          </a:p>
          <a:p>
            <a:r>
              <a:rPr lang="en-US" dirty="0" err="1"/>
              <a:t>VGGNet</a:t>
            </a:r>
            <a:r>
              <a:rPr lang="en-US" dirty="0"/>
              <a:t> includes three fully connected layers. The first two layers each have 4096 channels, and the third layer has 1000 channels, one for every class.</a:t>
            </a:r>
            <a:endParaRPr lang="en-IN" dirty="0"/>
          </a:p>
        </p:txBody>
      </p:sp>
    </p:spTree>
    <p:extLst>
      <p:ext uri="{BB962C8B-B14F-4D97-AF65-F5344CB8AC3E}">
        <p14:creationId xmlns:p14="http://schemas.microsoft.com/office/powerpoint/2010/main" val="19663289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IN" dirty="0"/>
          </a:p>
        </p:txBody>
      </p:sp>
      <p:sp>
        <p:nvSpPr>
          <p:cNvPr id="3" name="Content Placeholder 2"/>
          <p:cNvSpPr>
            <a:spLocks noGrp="1"/>
          </p:cNvSpPr>
          <p:nvPr>
            <p:ph idx="1"/>
          </p:nvPr>
        </p:nvSpPr>
        <p:spPr>
          <a:xfrm>
            <a:off x="838200" y="1449977"/>
            <a:ext cx="10515600" cy="4726986"/>
          </a:xfrm>
        </p:spPr>
        <p:txBody>
          <a:bodyPr/>
          <a:lstStyle/>
          <a:p>
            <a:r>
              <a:rPr lang="en-US" dirty="0"/>
              <a:t>VGG can extract more information from the network as it deals multiple parameters. Since we are using RELU activation function, there won’t be a problem of Vanishing Gradient problem</a:t>
            </a:r>
            <a:r>
              <a:rPr lang="en-US" dirty="0" smtClean="0"/>
              <a:t>.</a:t>
            </a:r>
          </a:p>
          <a:p>
            <a:r>
              <a:rPr lang="en-US" dirty="0" smtClean="0"/>
              <a:t>VGG </a:t>
            </a:r>
            <a:r>
              <a:rPr lang="en-US" dirty="0"/>
              <a:t>have a general architecture where convolution layers and pooling occur in a systematic way.</a:t>
            </a:r>
            <a:endParaRPr lang="en-IN" dirty="0"/>
          </a:p>
        </p:txBody>
      </p:sp>
    </p:spTree>
    <p:extLst>
      <p:ext uri="{BB962C8B-B14F-4D97-AF65-F5344CB8AC3E}">
        <p14:creationId xmlns:p14="http://schemas.microsoft.com/office/powerpoint/2010/main" val="5467862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TotalTime>
  <Words>434</Words>
  <Application>Microsoft Office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Office Theme</vt:lpstr>
      <vt:lpstr>Module -3</vt:lpstr>
      <vt:lpstr>VGG-16</vt:lpstr>
      <vt:lpstr>VGG Architecture</vt:lpstr>
      <vt:lpstr>Network Structure</vt:lpstr>
      <vt:lpstr>PowerPoint Presentation</vt:lpstr>
      <vt:lpstr>PowerPoint Presentation</vt:lpstr>
      <vt:lpstr>PowerPoint Presentation</vt:lpstr>
      <vt:lpstr>PowerPoint Presentation</vt:lpstr>
      <vt:lpstr>Special features</vt:lpstr>
      <vt:lpstr>Advantages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VIT-AP</dc:creator>
  <cp:lastModifiedBy>VIT-AP</cp:lastModifiedBy>
  <cp:revision>8</cp:revision>
  <dcterms:created xsi:type="dcterms:W3CDTF">2023-03-01T09:31:26Z</dcterms:created>
  <dcterms:modified xsi:type="dcterms:W3CDTF">2023-03-09T04:00:13Z</dcterms:modified>
</cp:coreProperties>
</file>