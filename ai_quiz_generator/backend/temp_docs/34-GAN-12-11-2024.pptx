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96"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1" r:id="rId24"/>
    <p:sldId id="278" r:id="rId25"/>
    <p:sldId id="279" r:id="rId26"/>
    <p:sldId id="280" r:id="rId27"/>
    <p:sldId id="282" r:id="rId28"/>
    <p:sldId id="297"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varScale="1">
        <p:scale>
          <a:sx n="119" d="100"/>
          <a:sy n="119" d="100"/>
        </p:scale>
        <p:origin x="24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FF095D5-B46A-4C51-8875-3622FF4C8C20}" type="datetimeFigureOut">
              <a:rPr lang="en-IN" smtClean="0"/>
              <a:t>05/11/24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41983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F095D5-B46A-4C51-8875-3622FF4C8C20}" type="datetimeFigureOut">
              <a:rPr lang="en-IN" smtClean="0"/>
              <a:t>05/11/24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3514680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FF095D5-B46A-4C51-8875-3622FF4C8C20}" type="datetimeFigureOut">
              <a:rPr lang="en-IN" smtClean="0"/>
              <a:t>05/11/24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2712055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FF095D5-B46A-4C51-8875-3622FF4C8C20}" type="datetimeFigureOut">
              <a:rPr lang="en-IN" smtClean="0"/>
              <a:t>05/11/24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37094875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FF095D5-B46A-4C51-8875-3622FF4C8C20}" type="datetimeFigureOut">
              <a:rPr lang="en-IN" smtClean="0"/>
              <a:t>05/11/24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3339508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FF095D5-B46A-4C51-8875-3622FF4C8C20}" type="datetimeFigureOut">
              <a:rPr lang="en-IN" smtClean="0"/>
              <a:t>05/11/24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2216809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F095D5-B46A-4C51-8875-3622FF4C8C20}" type="datetimeFigureOut">
              <a:rPr lang="en-IN" smtClean="0"/>
              <a:t>05/11/24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1154510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095D5-B46A-4C51-8875-3622FF4C8C20}" type="datetimeFigureOut">
              <a:rPr lang="en-IN" smtClean="0"/>
              <a:t>05/11/24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23122297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FF095D5-B46A-4C51-8875-3622FF4C8C20}" type="datetimeFigureOut">
              <a:rPr lang="en-IN" smtClean="0"/>
              <a:t>05/11/24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948665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F095D5-B46A-4C51-8875-3622FF4C8C20}" type="datetimeFigureOut">
              <a:rPr lang="en-IN" smtClean="0"/>
              <a:t>05/11/24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4097816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FF095D5-B46A-4C51-8875-3622FF4C8C20}" type="datetimeFigureOut">
              <a:rPr lang="en-IN" smtClean="0"/>
              <a:t>05/11/24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DD71ACB-932E-481B-A572-EC3A5D1F6218}" type="slidenum">
              <a:rPr lang="en-IN" smtClean="0"/>
              <a:t>‹#›</a:t>
            </a:fld>
            <a:endParaRPr lang="en-IN"/>
          </a:p>
        </p:txBody>
      </p:sp>
    </p:spTree>
    <p:extLst>
      <p:ext uri="{BB962C8B-B14F-4D97-AF65-F5344CB8AC3E}">
        <p14:creationId xmlns:p14="http://schemas.microsoft.com/office/powerpoint/2010/main" val="1202920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F095D5-B46A-4C51-8875-3622FF4C8C20}" type="datetimeFigureOut">
              <a:rPr lang="en-IN" smtClean="0"/>
              <a:t>05/11/24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D71ACB-932E-481B-A572-EC3A5D1F6218}" type="slidenum">
              <a:rPr lang="en-IN" smtClean="0"/>
              <a:t>‹#›</a:t>
            </a:fld>
            <a:endParaRPr lang="en-IN"/>
          </a:p>
        </p:txBody>
      </p:sp>
    </p:spTree>
    <p:extLst>
      <p:ext uri="{BB962C8B-B14F-4D97-AF65-F5344CB8AC3E}">
        <p14:creationId xmlns:p14="http://schemas.microsoft.com/office/powerpoint/2010/main" val="1925497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Module-6</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479241866"/>
              </p:ext>
            </p:extLst>
          </p:nvPr>
        </p:nvGraphicFramePr>
        <p:xfrm>
          <a:off x="838200" y="1881052"/>
          <a:ext cx="10515600" cy="2483739"/>
        </p:xfrm>
        <a:graphic>
          <a:graphicData uri="http://schemas.openxmlformats.org/drawingml/2006/table">
            <a:tbl>
              <a:tblPr firstRow="1" firstCol="1" bandRow="1">
                <a:tableStyleId>{5C22544A-7EE6-4342-B048-85BDC9FD1C3A}</a:tableStyleId>
              </a:tblPr>
              <a:tblGrid>
                <a:gridCol w="10515600">
                  <a:extLst>
                    <a:ext uri="{9D8B030D-6E8A-4147-A177-3AD203B41FA5}">
                      <a16:colId xmlns:a16="http://schemas.microsoft.com/office/drawing/2014/main" val="1138915053"/>
                    </a:ext>
                  </a:extLst>
                </a:gridCol>
              </a:tblGrid>
              <a:tr h="2318236">
                <a:tc>
                  <a:txBody>
                    <a:bodyPr/>
                    <a:lstStyle/>
                    <a:p>
                      <a:pPr marL="457200">
                        <a:lnSpc>
                          <a:spcPct val="115000"/>
                        </a:lnSpc>
                        <a:spcAft>
                          <a:spcPts val="0"/>
                        </a:spcAft>
                      </a:pPr>
                      <a:r>
                        <a:rPr lang="en-GB" sz="3600" dirty="0" err="1">
                          <a:effectLst/>
                        </a:rPr>
                        <a:t>Variational</a:t>
                      </a:r>
                      <a:r>
                        <a:rPr lang="en-GB" sz="3600" dirty="0">
                          <a:effectLst/>
                        </a:rPr>
                        <a:t> </a:t>
                      </a:r>
                      <a:r>
                        <a:rPr lang="en-GB" sz="3600" dirty="0" err="1">
                          <a:effectLst/>
                        </a:rPr>
                        <a:t>Autoencoders</a:t>
                      </a:r>
                      <a:r>
                        <a:rPr lang="en-GB" sz="3600" dirty="0">
                          <a:effectLst/>
                        </a:rPr>
                        <a:t>, Generative Adversarial Networks, Multi-task Deep Learning, Multi-view Deep Learning. </a:t>
                      </a:r>
                      <a:r>
                        <a:rPr lang="en-US" sz="3600" dirty="0">
                          <a:effectLst/>
                        </a:rPr>
                        <a:t>Various Applications - speech, text, image and video</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6837195"/>
                  </a:ext>
                </a:extLst>
              </a:tr>
            </a:tbl>
          </a:graphicData>
        </a:graphic>
      </p:graphicFrame>
    </p:spTree>
    <p:extLst>
      <p:ext uri="{BB962C8B-B14F-4D97-AF65-F5344CB8AC3E}">
        <p14:creationId xmlns:p14="http://schemas.microsoft.com/office/powerpoint/2010/main" val="2328246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IN" dirty="0"/>
          </a:p>
        </p:txBody>
      </p:sp>
      <p:sp>
        <p:nvSpPr>
          <p:cNvPr id="3" name="Content Placeholder 2"/>
          <p:cNvSpPr>
            <a:spLocks noGrp="1"/>
          </p:cNvSpPr>
          <p:nvPr>
            <p:ph idx="1"/>
          </p:nvPr>
        </p:nvSpPr>
        <p:spPr>
          <a:xfrm>
            <a:off x="838200" y="1515291"/>
            <a:ext cx="10515600" cy="4661672"/>
          </a:xfrm>
        </p:spPr>
        <p:txBody>
          <a:bodyPr>
            <a:normAutofit lnSpcReduction="10000"/>
          </a:bodyPr>
          <a:lstStyle/>
          <a:p>
            <a:r>
              <a:rPr lang="en-US" dirty="0"/>
              <a:t>Generative Adversarial Networks (GANs) were introduced in 2014 by Ian J. </a:t>
            </a:r>
            <a:r>
              <a:rPr lang="en-US" dirty="0" err="1"/>
              <a:t>Goodfellow</a:t>
            </a:r>
            <a:r>
              <a:rPr lang="en-US" dirty="0"/>
              <a:t> and co-authors. </a:t>
            </a:r>
          </a:p>
          <a:p>
            <a:r>
              <a:rPr lang="en-US" dirty="0"/>
              <a:t>GANs perform unsupervised learning tasks in machine learning.</a:t>
            </a:r>
          </a:p>
          <a:p>
            <a:r>
              <a:rPr lang="en-US" dirty="0"/>
              <a:t>GANs introduce the concept of </a:t>
            </a:r>
            <a:r>
              <a:rPr lang="en-US" b="1" dirty="0"/>
              <a:t>adversarial learning</a:t>
            </a:r>
            <a:r>
              <a:rPr lang="en-US" dirty="0"/>
              <a:t>, as they lie in the rivalry between two neural networks. </a:t>
            </a:r>
          </a:p>
          <a:p>
            <a:r>
              <a:rPr lang="en-US" dirty="0"/>
              <a:t>These techniques have enabled researchers to create realistic-looking but entirely computer generated photos of people’s faces. </a:t>
            </a:r>
          </a:p>
          <a:p>
            <a:r>
              <a:rPr lang="en-US" dirty="0"/>
              <a:t>They have also allowed the creation of controversial “</a:t>
            </a:r>
            <a:r>
              <a:rPr lang="en-US" dirty="0" err="1"/>
              <a:t>deepfake</a:t>
            </a:r>
            <a:r>
              <a:rPr lang="en-US" dirty="0"/>
              <a:t>” videos.</a:t>
            </a:r>
          </a:p>
          <a:p>
            <a:r>
              <a:rPr lang="en-US" dirty="0"/>
              <a:t> Actually, GANs can be used to imitate any data distribution (image, text, sound, etc.).</a:t>
            </a:r>
            <a:endParaRPr lang="en-IN" dirty="0"/>
          </a:p>
        </p:txBody>
      </p:sp>
    </p:spTree>
    <p:extLst>
      <p:ext uri="{BB962C8B-B14F-4D97-AF65-F5344CB8AC3E}">
        <p14:creationId xmlns:p14="http://schemas.microsoft.com/office/powerpoint/2010/main" val="374990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574766"/>
            <a:ext cx="10988040" cy="5602197"/>
          </a:xfrm>
        </p:spPr>
        <p:txBody>
          <a:bodyPr/>
          <a:lstStyle/>
          <a:p>
            <a:r>
              <a:rPr lang="en-US" dirty="0"/>
              <a:t>It consists of 2 models that automatically discover and learn the patterns in input data. </a:t>
            </a:r>
          </a:p>
          <a:p>
            <a:r>
              <a:rPr lang="en-US" dirty="0"/>
              <a:t>The two models are known as Generator and Discriminator.</a:t>
            </a:r>
          </a:p>
          <a:p>
            <a:r>
              <a:rPr lang="en-US" dirty="0"/>
              <a:t>GANs can be used to generate new examples that possibly could have been drawn from the original dataset.</a:t>
            </a:r>
            <a:endParaRPr lang="en-IN" dirty="0"/>
          </a:p>
        </p:txBody>
      </p:sp>
      <p:pic>
        <p:nvPicPr>
          <p:cNvPr id="4" name="Picture 3"/>
          <p:cNvPicPr>
            <a:picLocks noChangeAspect="1"/>
          </p:cNvPicPr>
          <p:nvPr/>
        </p:nvPicPr>
        <p:blipFill>
          <a:blip r:embed="rId2"/>
          <a:stretch>
            <a:fillRect/>
          </a:stretch>
        </p:blipFill>
        <p:spPr>
          <a:xfrm>
            <a:off x="4293053" y="3100388"/>
            <a:ext cx="5695950" cy="3076575"/>
          </a:xfrm>
          <a:prstGeom prst="rect">
            <a:avLst/>
          </a:prstGeom>
        </p:spPr>
      </p:pic>
    </p:spTree>
    <p:extLst>
      <p:ext uri="{BB962C8B-B14F-4D97-AF65-F5344CB8AC3E}">
        <p14:creationId xmlns:p14="http://schemas.microsoft.com/office/powerpoint/2010/main" val="3258861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Generator</a:t>
            </a:r>
            <a:endParaRPr lang="en-IN" dirty="0"/>
          </a:p>
        </p:txBody>
      </p:sp>
      <p:sp>
        <p:nvSpPr>
          <p:cNvPr id="3" name="Content Placeholder 2"/>
          <p:cNvSpPr>
            <a:spLocks noGrp="1"/>
          </p:cNvSpPr>
          <p:nvPr>
            <p:ph idx="1"/>
          </p:nvPr>
        </p:nvSpPr>
        <p:spPr>
          <a:xfrm>
            <a:off x="224246" y="1877877"/>
            <a:ext cx="5706291" cy="4351338"/>
          </a:xfrm>
        </p:spPr>
        <p:txBody>
          <a:bodyPr/>
          <a:lstStyle/>
          <a:p>
            <a:r>
              <a:rPr lang="en-US" dirty="0"/>
              <a:t>A Generator in GANs is a neural network that creates fake data to be trained on the discriminator. </a:t>
            </a:r>
          </a:p>
          <a:p>
            <a:r>
              <a:rPr lang="en-US" dirty="0"/>
              <a:t>It learns to generate possible data. </a:t>
            </a:r>
          </a:p>
          <a:p>
            <a:r>
              <a:rPr lang="en-US" dirty="0"/>
              <a:t>The generated examples/instances become negative training examples for the discriminator. </a:t>
            </a:r>
          </a:p>
          <a:p>
            <a:r>
              <a:rPr lang="en-US" dirty="0"/>
              <a:t>It takes a fixed-length random vector carrying noise as input and generates a sample. </a:t>
            </a:r>
            <a:endParaRPr lang="en-IN" dirty="0"/>
          </a:p>
        </p:txBody>
      </p:sp>
      <p:pic>
        <p:nvPicPr>
          <p:cNvPr id="4" name="Picture 3"/>
          <p:cNvPicPr>
            <a:picLocks noChangeAspect="1"/>
          </p:cNvPicPr>
          <p:nvPr/>
        </p:nvPicPr>
        <p:blipFill>
          <a:blip r:embed="rId2"/>
          <a:stretch>
            <a:fillRect/>
          </a:stretch>
        </p:blipFill>
        <p:spPr>
          <a:xfrm rot="3177857">
            <a:off x="5572107" y="2426749"/>
            <a:ext cx="7171509" cy="2190750"/>
          </a:xfrm>
          <a:prstGeom prst="rect">
            <a:avLst/>
          </a:prstGeom>
        </p:spPr>
      </p:pic>
    </p:spTree>
    <p:extLst>
      <p:ext uri="{BB962C8B-B14F-4D97-AF65-F5344CB8AC3E}">
        <p14:creationId xmlns:p14="http://schemas.microsoft.com/office/powerpoint/2010/main" val="1842425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0263" y="156754"/>
            <a:ext cx="10883537" cy="6701246"/>
          </a:xfrm>
        </p:spPr>
        <p:txBody>
          <a:bodyPr/>
          <a:lstStyle/>
          <a:p>
            <a:r>
              <a:rPr lang="en-US" dirty="0"/>
              <a:t>The main aim of the Generator is to make the discriminator classify its output as real.</a:t>
            </a:r>
          </a:p>
          <a:p>
            <a:r>
              <a:rPr lang="en-US" dirty="0"/>
              <a:t> The part of the GAN that trains the Generator includes:</a:t>
            </a:r>
          </a:p>
          <a:p>
            <a:pPr lvl="1"/>
            <a:r>
              <a:rPr lang="en-US" dirty="0"/>
              <a:t>noisy input vector</a:t>
            </a:r>
          </a:p>
          <a:p>
            <a:r>
              <a:rPr lang="en-US" dirty="0"/>
              <a:t>generator network, which transforms the random input into a data instance</a:t>
            </a:r>
          </a:p>
          <a:p>
            <a:r>
              <a:rPr lang="en-US" dirty="0"/>
              <a:t>discriminator network, which classifies the generated data </a:t>
            </a:r>
          </a:p>
          <a:p>
            <a:r>
              <a:rPr lang="en-US" dirty="0"/>
              <a:t>generator loss, which penalizes the Generator for failing to dolt the discriminator</a:t>
            </a:r>
          </a:p>
          <a:p>
            <a:r>
              <a:rPr lang="en-US" dirty="0"/>
              <a:t>The backpropagation method is used to adjust each weight in the right direction by calculating the weight's impact on the output. </a:t>
            </a:r>
          </a:p>
          <a:p>
            <a:r>
              <a:rPr lang="en-US" dirty="0"/>
              <a:t>It is also used to obtain gradients and these gradients can help change the generator weights.</a:t>
            </a:r>
            <a:endParaRPr lang="en-IN" dirty="0"/>
          </a:p>
        </p:txBody>
      </p:sp>
    </p:spTree>
    <p:extLst>
      <p:ext uri="{BB962C8B-B14F-4D97-AF65-F5344CB8AC3E}">
        <p14:creationId xmlns:p14="http://schemas.microsoft.com/office/powerpoint/2010/main" val="375319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883228" y="1825625"/>
            <a:ext cx="7891674" cy="3345202"/>
          </a:xfrm>
          <a:prstGeom prst="rect">
            <a:avLst/>
          </a:prstGeom>
        </p:spPr>
      </p:pic>
    </p:spTree>
    <p:extLst>
      <p:ext uri="{BB962C8B-B14F-4D97-AF65-F5344CB8AC3E}">
        <p14:creationId xmlns:p14="http://schemas.microsoft.com/office/powerpoint/2010/main" val="3609890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AI generated photo of Trump and Biden">
            <a:extLst>
              <a:ext uri="{FF2B5EF4-FFF2-40B4-BE49-F238E27FC236}">
                <a16:creationId xmlns:a16="http://schemas.microsoft.com/office/drawing/2014/main" id="{4A32FBC2-C41D-BB38-1A90-CB045E6351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1838" y="1825625"/>
            <a:ext cx="4712746" cy="4712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060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1074" y="0"/>
            <a:ext cx="10922726" cy="6176963"/>
          </a:xfrm>
        </p:spPr>
        <p:txBody>
          <a:bodyPr/>
          <a:lstStyle/>
          <a:p>
            <a:r>
              <a:rPr lang="en-US" dirty="0"/>
              <a:t>Its aim is to generate the fake image based on feedback and make the discriminator fool that it cannot predict a fake image. </a:t>
            </a:r>
          </a:p>
          <a:p>
            <a:r>
              <a:rPr lang="en-US" dirty="0"/>
              <a:t>And when the discriminator is made a fool by the generator, the training stops and we can say that a generalized GAN model is created.</a:t>
            </a:r>
            <a:endParaRPr lang="en-IN" dirty="0"/>
          </a:p>
        </p:txBody>
      </p:sp>
      <p:pic>
        <p:nvPicPr>
          <p:cNvPr id="4" name="Picture 3"/>
          <p:cNvPicPr>
            <a:picLocks noChangeAspect="1"/>
          </p:cNvPicPr>
          <p:nvPr/>
        </p:nvPicPr>
        <p:blipFill>
          <a:blip r:embed="rId2"/>
          <a:stretch>
            <a:fillRect/>
          </a:stretch>
        </p:blipFill>
        <p:spPr>
          <a:xfrm>
            <a:off x="2233749" y="2314574"/>
            <a:ext cx="7589520" cy="4269105"/>
          </a:xfrm>
          <a:prstGeom prst="rect">
            <a:avLst/>
          </a:prstGeom>
        </p:spPr>
      </p:pic>
    </p:spTree>
    <p:extLst>
      <p:ext uri="{BB962C8B-B14F-4D97-AF65-F5344CB8AC3E}">
        <p14:creationId xmlns:p14="http://schemas.microsoft.com/office/powerpoint/2010/main" val="2299053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3880" y="143691"/>
            <a:ext cx="10515600" cy="6387737"/>
          </a:xfrm>
        </p:spPr>
        <p:txBody>
          <a:bodyPr>
            <a:normAutofit fontScale="92500"/>
          </a:bodyPr>
          <a:lstStyle/>
          <a:p>
            <a:r>
              <a:rPr lang="en-US" dirty="0"/>
              <a:t>Generative model captures the distribution of data and is trained in such a manner to generate the new sample that tries to maximize the probability of the discriminator to make a mistake(maximize discriminator loss). </a:t>
            </a:r>
          </a:p>
          <a:p>
            <a:r>
              <a:rPr lang="en-US" dirty="0"/>
              <a:t>The discriminator on other hand is based on a model that estimates the probability that the sample it receives is from training data not from the generator and tries to classify it accurately and minimize the GAN accuracy. </a:t>
            </a:r>
          </a:p>
          <a:p>
            <a:r>
              <a:rPr lang="en-US" dirty="0"/>
              <a:t>Hence the GAN network is formulated as a minimax game where the Discriminator is trying to minimize its reward </a:t>
            </a:r>
            <a:r>
              <a:rPr lang="en-US" b="1" dirty="0"/>
              <a:t>V(D, G)</a:t>
            </a:r>
            <a:r>
              <a:rPr lang="en-US" dirty="0"/>
              <a:t> and the generator is trying to maximize the Discriminator loss.</a:t>
            </a:r>
          </a:p>
          <a:p>
            <a:r>
              <a:rPr lang="en-US" dirty="0"/>
              <a:t>Generator output is directly connected to the input of the discriminator. </a:t>
            </a:r>
          </a:p>
          <a:p>
            <a:r>
              <a:rPr lang="en-US" dirty="0"/>
              <a:t>And discriminator predicts it and through backpropagation, the generator receives a feedback signal to update weights and improve performance. </a:t>
            </a:r>
          </a:p>
          <a:p>
            <a:r>
              <a:rPr lang="en-US" dirty="0"/>
              <a:t>The discriminator is a feed-forward neural network.</a:t>
            </a:r>
            <a:endParaRPr lang="en-IN" dirty="0"/>
          </a:p>
        </p:txBody>
      </p:sp>
    </p:spTree>
    <p:extLst>
      <p:ext uri="{BB962C8B-B14F-4D97-AF65-F5344CB8AC3E}">
        <p14:creationId xmlns:p14="http://schemas.microsoft.com/office/powerpoint/2010/main" val="3258483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Training &amp; Prediction of Generative Adversarial Networks (GANs)</a:t>
            </a:r>
            <a:br>
              <a:rPr lang="en-US" dirty="0"/>
            </a:br>
            <a:endParaRPr lang="en-IN" dirty="0"/>
          </a:p>
        </p:txBody>
      </p:sp>
      <p:sp>
        <p:nvSpPr>
          <p:cNvPr id="3" name="Content Placeholder 2"/>
          <p:cNvSpPr>
            <a:spLocks noGrp="1"/>
          </p:cNvSpPr>
          <p:nvPr>
            <p:ph idx="1"/>
          </p:nvPr>
        </p:nvSpPr>
        <p:spPr>
          <a:xfrm>
            <a:off x="838200" y="1371600"/>
            <a:ext cx="10515600" cy="5486399"/>
          </a:xfrm>
        </p:spPr>
        <p:txBody>
          <a:bodyPr>
            <a:normAutofit lnSpcReduction="10000"/>
          </a:bodyPr>
          <a:lstStyle/>
          <a:p>
            <a:r>
              <a:rPr lang="en-IN" b="1" dirty="0"/>
              <a:t>Step-1) Define a Problem</a:t>
            </a:r>
          </a:p>
          <a:p>
            <a:r>
              <a:rPr lang="en-US" b="1" dirty="0"/>
              <a:t>Step-2) Select Architecture of GAN</a:t>
            </a:r>
          </a:p>
          <a:p>
            <a:r>
              <a:rPr lang="en-US" b="1" dirty="0"/>
              <a:t>Step-3) Train Discriminator on Real Dataset</a:t>
            </a:r>
          </a:p>
          <a:p>
            <a:pPr lvl="1"/>
            <a:r>
              <a:rPr lang="en-US" dirty="0"/>
              <a:t>Discriminator is trained on a real dataset. </a:t>
            </a:r>
          </a:p>
          <a:p>
            <a:pPr lvl="1"/>
            <a:r>
              <a:rPr lang="en-US" dirty="0"/>
              <a:t>It is only having a forward path, no backpropagation is there in the training of the Discriminator in n epochs. </a:t>
            </a:r>
          </a:p>
          <a:p>
            <a:pPr lvl="1"/>
            <a:r>
              <a:rPr lang="en-US" dirty="0"/>
              <a:t>And the Data you are providing is without Noise and only contains real images, and for fake images, Discriminator uses instances created by the generator as negative output.</a:t>
            </a:r>
          </a:p>
          <a:p>
            <a:r>
              <a:rPr lang="en-US" dirty="0"/>
              <a:t>It classifies both real and fake data.</a:t>
            </a:r>
          </a:p>
          <a:p>
            <a:r>
              <a:rPr lang="en-US" dirty="0"/>
              <a:t>The discriminator loss helps improve its performance and penalize it when it misclassifies real as fake or vice-versa.</a:t>
            </a:r>
          </a:p>
          <a:p>
            <a:r>
              <a:rPr lang="en-US" dirty="0"/>
              <a:t>weights of the discriminator are updated through discriminator loss.</a:t>
            </a:r>
          </a:p>
          <a:p>
            <a:pPr lvl="1"/>
            <a:endParaRPr lang="en-IN" dirty="0"/>
          </a:p>
        </p:txBody>
      </p:sp>
    </p:spTree>
    <p:extLst>
      <p:ext uri="{BB962C8B-B14F-4D97-AF65-F5344CB8AC3E}">
        <p14:creationId xmlns:p14="http://schemas.microsoft.com/office/powerpoint/2010/main" val="9304271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496389"/>
            <a:ext cx="11353800" cy="5680574"/>
          </a:xfrm>
        </p:spPr>
        <p:txBody>
          <a:bodyPr>
            <a:normAutofit/>
          </a:bodyPr>
          <a:lstStyle/>
          <a:p>
            <a:r>
              <a:rPr lang="en-IN" b="1" dirty="0"/>
              <a:t>Step-4) Train Generator</a:t>
            </a:r>
          </a:p>
          <a:p>
            <a:pPr lvl="1"/>
            <a:r>
              <a:rPr lang="en-US" dirty="0"/>
              <a:t>Provide some Fake inputs for the generator(Noise) and It will use some random noise and generate some fake outputs. </a:t>
            </a:r>
          </a:p>
          <a:p>
            <a:pPr lvl="1"/>
            <a:r>
              <a:rPr lang="en-US" dirty="0"/>
              <a:t>When Generator is trained, Discriminator is Idle and when Discriminator is trained, Generator is Idle. </a:t>
            </a:r>
          </a:p>
          <a:p>
            <a:pPr lvl="1"/>
            <a:r>
              <a:rPr lang="en-US" dirty="0"/>
              <a:t>During generator training through any random noise as input, it tries to transform it into meaningful data. to get meaningful output from the generator takes time and runs under many epochs.</a:t>
            </a:r>
          </a:p>
          <a:p>
            <a:pPr lvl="1"/>
            <a:r>
              <a:rPr lang="en-US" dirty="0"/>
              <a:t>Steps to train a generator</a:t>
            </a:r>
          </a:p>
          <a:p>
            <a:pPr lvl="2"/>
            <a:r>
              <a:rPr lang="en-US" dirty="0"/>
              <a:t>get random noise and produce a generator output on noise sample</a:t>
            </a:r>
          </a:p>
          <a:p>
            <a:pPr lvl="2"/>
            <a:r>
              <a:rPr lang="en-US" dirty="0"/>
              <a:t>predict generator output from discriminator as original or fake.</a:t>
            </a:r>
          </a:p>
          <a:p>
            <a:pPr lvl="2"/>
            <a:r>
              <a:rPr lang="en-US" dirty="0"/>
              <a:t>we calculate discriminator loss.</a:t>
            </a:r>
          </a:p>
          <a:p>
            <a:pPr lvl="2"/>
            <a:r>
              <a:rPr lang="en-US" dirty="0"/>
              <a:t>perform backpropagation through discriminator, and generator both to calculate gradients.</a:t>
            </a:r>
          </a:p>
          <a:p>
            <a:pPr lvl="2"/>
            <a:r>
              <a:rPr lang="en-US" dirty="0"/>
              <a:t>Use gradients to update generator weights.</a:t>
            </a:r>
          </a:p>
          <a:p>
            <a:pPr lvl="3"/>
            <a:endParaRPr lang="en-IN" dirty="0"/>
          </a:p>
        </p:txBody>
      </p:sp>
    </p:spTree>
    <p:extLst>
      <p:ext uri="{BB962C8B-B14F-4D97-AF65-F5344CB8AC3E}">
        <p14:creationId xmlns:p14="http://schemas.microsoft.com/office/powerpoint/2010/main" val="1510727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137" y="431074"/>
            <a:ext cx="10909663" cy="5745889"/>
          </a:xfrm>
        </p:spPr>
        <p:txBody>
          <a:bodyPr/>
          <a:lstStyle/>
          <a:p>
            <a:r>
              <a:rPr lang="en-US" b="1" dirty="0"/>
              <a:t>Step-5) Train Discriminator on Fake Data</a:t>
            </a:r>
          </a:p>
          <a:p>
            <a:pPr lvl="1"/>
            <a:r>
              <a:rPr lang="en-US" dirty="0"/>
              <a:t>The samples which are generated by Generator will pass to Discriminator and It will predict the data passed to it is Fake or real and provide feedback to Generator again.</a:t>
            </a:r>
          </a:p>
          <a:p>
            <a:r>
              <a:rPr lang="en-US" b="1" dirty="0"/>
              <a:t>Step-6) Train Generator with the output of Discriminator</a:t>
            </a:r>
          </a:p>
          <a:p>
            <a:pPr lvl="1"/>
            <a:r>
              <a:rPr lang="en-US" dirty="0"/>
              <a:t>Generator will be trained on the feedback given by Discriminator and try to improve performance.</a:t>
            </a:r>
          </a:p>
          <a:p>
            <a:pPr lvl="1"/>
            <a:r>
              <a:rPr lang="en-US" dirty="0"/>
              <a:t>This is an iterative process and continues running until the Generator is not successful in making the discriminator fool.</a:t>
            </a:r>
          </a:p>
          <a:p>
            <a:pPr lvl="1"/>
            <a:endParaRPr lang="en-IN" dirty="0"/>
          </a:p>
        </p:txBody>
      </p:sp>
    </p:spTree>
    <p:extLst>
      <p:ext uri="{BB962C8B-B14F-4D97-AF65-F5344CB8AC3E}">
        <p14:creationId xmlns:p14="http://schemas.microsoft.com/office/powerpoint/2010/main" val="3100979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938337" y="645935"/>
            <a:ext cx="10315326" cy="5566130"/>
          </a:xfrm>
          <a:prstGeom prst="rect">
            <a:avLst/>
          </a:prstGeom>
        </p:spPr>
      </p:pic>
    </p:spTree>
    <p:extLst>
      <p:ext uri="{BB962C8B-B14F-4D97-AF65-F5344CB8AC3E}">
        <p14:creationId xmlns:p14="http://schemas.microsoft.com/office/powerpoint/2010/main" val="212109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Generative Adversarial Networks (GANs) Loss Function</a:t>
            </a:r>
            <a:br>
              <a:rPr lang="en-US" dirty="0"/>
            </a:br>
            <a:endParaRPr lang="en-IN" dirty="0"/>
          </a:p>
        </p:txBody>
      </p:sp>
      <p:sp>
        <p:nvSpPr>
          <p:cNvPr id="3" name="Content Placeholder 2"/>
          <p:cNvSpPr>
            <a:spLocks noGrp="1"/>
          </p:cNvSpPr>
          <p:nvPr>
            <p:ph idx="1"/>
          </p:nvPr>
        </p:nvSpPr>
        <p:spPr/>
        <p:txBody>
          <a:bodyPr/>
          <a:lstStyle/>
          <a:p>
            <a:r>
              <a:rPr lang="en-US" dirty="0"/>
              <a:t>The generator tries to minimize the following loss function while the discriminator tries to maximize it. It is the same as a minimax game if you have ever played.</a:t>
            </a:r>
            <a:endParaRPr lang="en-IN" dirty="0"/>
          </a:p>
        </p:txBody>
      </p:sp>
      <p:pic>
        <p:nvPicPr>
          <p:cNvPr id="4" name="Picture 3"/>
          <p:cNvPicPr>
            <a:picLocks noChangeAspect="1"/>
          </p:cNvPicPr>
          <p:nvPr/>
        </p:nvPicPr>
        <p:blipFill>
          <a:blip r:embed="rId2"/>
          <a:stretch>
            <a:fillRect/>
          </a:stretch>
        </p:blipFill>
        <p:spPr>
          <a:xfrm>
            <a:off x="2603047" y="3767273"/>
            <a:ext cx="8084552" cy="1457870"/>
          </a:xfrm>
          <a:prstGeom prst="rect">
            <a:avLst/>
          </a:prstGeom>
        </p:spPr>
      </p:pic>
    </p:spTree>
    <p:extLst>
      <p:ext uri="{BB962C8B-B14F-4D97-AF65-F5344CB8AC3E}">
        <p14:creationId xmlns:p14="http://schemas.microsoft.com/office/powerpoint/2010/main" val="974839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D(x) is the discriminator’s estimate of the probability that real data instance x is real.</a:t>
            </a:r>
          </a:p>
          <a:p>
            <a:r>
              <a:rPr lang="en-US" dirty="0"/>
              <a:t>E</a:t>
            </a:r>
            <a:r>
              <a:rPr lang="en-US" baseline="-25000" dirty="0"/>
              <a:t>x</a:t>
            </a:r>
            <a:r>
              <a:rPr lang="en-US" dirty="0"/>
              <a:t> is the expected value over all real data instances.</a:t>
            </a:r>
          </a:p>
          <a:p>
            <a:r>
              <a:rPr lang="en-US" dirty="0"/>
              <a:t>G(z) is the generator’s output when given noise z.</a:t>
            </a:r>
          </a:p>
          <a:p>
            <a:r>
              <a:rPr lang="en-US" dirty="0"/>
              <a:t>D(G(z)) is the discriminator’s estimate of the probability that a fake instance is real.</a:t>
            </a:r>
          </a:p>
          <a:p>
            <a:r>
              <a:rPr lang="en-US" dirty="0" err="1"/>
              <a:t>E</a:t>
            </a:r>
            <a:r>
              <a:rPr lang="en-US" baseline="-25000" dirty="0" err="1"/>
              <a:t>z</a:t>
            </a:r>
            <a:r>
              <a:rPr lang="en-US" dirty="0"/>
              <a:t> is the expected value over all random inputs to the generator (in effect, the expected value over all generated fake instances G(z)).</a:t>
            </a:r>
          </a:p>
          <a:p>
            <a:r>
              <a:rPr lang="en-US" dirty="0"/>
              <a:t>The formula is derived from cross-entropy between</a:t>
            </a:r>
          </a:p>
          <a:p>
            <a:endParaRPr lang="en-IN" dirty="0"/>
          </a:p>
        </p:txBody>
      </p:sp>
    </p:spTree>
    <p:extLst>
      <p:ext uri="{BB962C8B-B14F-4D97-AF65-F5344CB8AC3E}">
        <p14:creationId xmlns:p14="http://schemas.microsoft.com/office/powerpoint/2010/main" val="4097288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Discriminator loss</a:t>
            </a:r>
            <a:br>
              <a:rPr lang="en-US" b="1" dirty="0"/>
            </a:br>
            <a:endParaRPr lang="en-IN" dirty="0"/>
          </a:p>
        </p:txBody>
      </p:sp>
      <p:sp>
        <p:nvSpPr>
          <p:cNvPr id="3" name="Content Placeholder 2"/>
          <p:cNvSpPr>
            <a:spLocks noGrp="1"/>
          </p:cNvSpPr>
          <p:nvPr>
            <p:ph idx="1"/>
          </p:nvPr>
        </p:nvSpPr>
        <p:spPr>
          <a:xfrm>
            <a:off x="838200" y="1384663"/>
            <a:ext cx="10515600" cy="4792300"/>
          </a:xfrm>
        </p:spPr>
        <p:txBody>
          <a:bodyPr>
            <a:normAutofit fontScale="92500" lnSpcReduction="10000"/>
          </a:bodyPr>
          <a:lstStyle/>
          <a:p>
            <a:r>
              <a:rPr lang="en-US" dirty="0"/>
              <a:t>While the discriminator is trained, it classifies both the real data and the fake data from the generator.</a:t>
            </a:r>
          </a:p>
          <a:p>
            <a:r>
              <a:rPr lang="en-US" dirty="0"/>
              <a:t>It penalizes itself for misclassifying a real instance as fake, or a fake instance (created by the  generator) as real, by maximizing the below function.</a:t>
            </a:r>
          </a:p>
          <a:p>
            <a:endParaRPr lang="en-US" dirty="0"/>
          </a:p>
          <a:p>
            <a:endParaRPr lang="en-US" dirty="0"/>
          </a:p>
          <a:p>
            <a:endParaRPr lang="en-US" b="1" dirty="0"/>
          </a:p>
          <a:p>
            <a:r>
              <a:rPr lang="en-US" b="1" dirty="0"/>
              <a:t>log(D(x)) </a:t>
            </a:r>
            <a:r>
              <a:rPr lang="en-US" dirty="0"/>
              <a:t>refers to the probability that the generator is rightly classifying the real image,</a:t>
            </a:r>
          </a:p>
          <a:p>
            <a:r>
              <a:rPr lang="en-US" dirty="0"/>
              <a:t>maximizing </a:t>
            </a:r>
            <a:r>
              <a:rPr lang="en-US" b="1" dirty="0"/>
              <a:t>log(1-D(G(z))) </a:t>
            </a:r>
            <a:r>
              <a:rPr lang="en-US" dirty="0"/>
              <a:t>would help it to correctly label the fake image that comes from the generator.</a:t>
            </a:r>
          </a:p>
          <a:p>
            <a:endParaRPr lang="en-US" dirty="0"/>
          </a:p>
          <a:p>
            <a:endParaRPr lang="en-IN" dirty="0"/>
          </a:p>
        </p:txBody>
      </p:sp>
      <p:pic>
        <p:nvPicPr>
          <p:cNvPr id="4" name="Picture 3"/>
          <p:cNvPicPr>
            <a:picLocks noChangeAspect="1"/>
          </p:cNvPicPr>
          <p:nvPr/>
        </p:nvPicPr>
        <p:blipFill>
          <a:blip r:embed="rId2"/>
          <a:stretch>
            <a:fillRect/>
          </a:stretch>
        </p:blipFill>
        <p:spPr>
          <a:xfrm>
            <a:off x="3066779" y="3106624"/>
            <a:ext cx="7181850" cy="1266825"/>
          </a:xfrm>
          <a:prstGeom prst="rect">
            <a:avLst/>
          </a:prstGeom>
        </p:spPr>
      </p:pic>
    </p:spTree>
    <p:extLst>
      <p:ext uri="{BB962C8B-B14F-4D97-AF65-F5344CB8AC3E}">
        <p14:creationId xmlns:p14="http://schemas.microsoft.com/office/powerpoint/2010/main" val="1265754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Generator loss</a:t>
            </a:r>
            <a:br>
              <a:rPr lang="en-IN" b="1" dirty="0"/>
            </a:br>
            <a:endParaRPr lang="en-IN" dirty="0"/>
          </a:p>
        </p:txBody>
      </p:sp>
      <p:sp>
        <p:nvSpPr>
          <p:cNvPr id="3" name="Content Placeholder 2"/>
          <p:cNvSpPr>
            <a:spLocks noGrp="1"/>
          </p:cNvSpPr>
          <p:nvPr>
            <p:ph idx="1"/>
          </p:nvPr>
        </p:nvSpPr>
        <p:spPr>
          <a:xfrm>
            <a:off x="838200" y="1334952"/>
            <a:ext cx="10515600" cy="4351338"/>
          </a:xfrm>
        </p:spPr>
        <p:txBody>
          <a:bodyPr/>
          <a:lstStyle/>
          <a:p>
            <a:r>
              <a:rPr lang="en-US" dirty="0"/>
              <a:t>While the generator is trained, it samples random noise and produces an output from that noise. The output then goes through the discriminator and gets classified as either “Real” or “Fake” based on the ability of the discriminator to tell one from the other.</a:t>
            </a:r>
          </a:p>
          <a:p>
            <a:r>
              <a:rPr lang="en-US" dirty="0"/>
              <a:t>The generator loss is then calculated from the discriminator’s classification – it gets rewarded if it successfully fools the discriminator, and gets penalized otherwise. </a:t>
            </a:r>
          </a:p>
          <a:p>
            <a:r>
              <a:rPr lang="en-US" dirty="0"/>
              <a:t>The following equation is minimized to training the generator:</a:t>
            </a:r>
          </a:p>
          <a:p>
            <a:endParaRPr lang="en-IN" dirty="0"/>
          </a:p>
        </p:txBody>
      </p:sp>
      <p:pic>
        <p:nvPicPr>
          <p:cNvPr id="4" name="Picture 3"/>
          <p:cNvPicPr>
            <a:picLocks noChangeAspect="1"/>
          </p:cNvPicPr>
          <p:nvPr/>
        </p:nvPicPr>
        <p:blipFill>
          <a:blip r:embed="rId2"/>
          <a:stretch>
            <a:fillRect/>
          </a:stretch>
        </p:blipFill>
        <p:spPr>
          <a:xfrm>
            <a:off x="5612266" y="4906738"/>
            <a:ext cx="4113003" cy="1089113"/>
          </a:xfrm>
          <a:prstGeom prst="rect">
            <a:avLst/>
          </a:prstGeom>
        </p:spPr>
      </p:pic>
    </p:spTree>
    <p:extLst>
      <p:ext uri="{BB962C8B-B14F-4D97-AF65-F5344CB8AC3E}">
        <p14:creationId xmlns:p14="http://schemas.microsoft.com/office/powerpoint/2010/main" val="1774354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of GAN</a:t>
            </a:r>
            <a:endParaRPr lang="en-IN" dirty="0"/>
          </a:p>
        </p:txBody>
      </p:sp>
      <p:sp>
        <p:nvSpPr>
          <p:cNvPr id="3" name="Content Placeholder 2"/>
          <p:cNvSpPr>
            <a:spLocks noGrp="1"/>
          </p:cNvSpPr>
          <p:nvPr>
            <p:ph idx="1"/>
          </p:nvPr>
        </p:nvSpPr>
        <p:spPr>
          <a:xfrm>
            <a:off x="707572" y="1342299"/>
            <a:ext cx="10515600" cy="4351338"/>
          </a:xfrm>
        </p:spPr>
        <p:txBody>
          <a:bodyPr/>
          <a:lstStyle/>
          <a:p>
            <a:r>
              <a:rPr lang="en-IN" b="1" dirty="0"/>
              <a:t>Mode Collapse</a:t>
            </a:r>
          </a:p>
          <a:p>
            <a:r>
              <a:rPr lang="en-US" b="1" dirty="0"/>
              <a:t>we would want our GAN to produce a range of outputs</a:t>
            </a:r>
            <a:r>
              <a:rPr lang="en-US" dirty="0"/>
              <a:t>. We would expect, for example, another face for every random input to the face generator that we design. </a:t>
            </a:r>
          </a:p>
          <a:p>
            <a:r>
              <a:rPr lang="en-US" dirty="0"/>
              <a:t>Instead, through subsequent training, the network learns to model a particular distribution of data, which gives us a </a:t>
            </a:r>
            <a:r>
              <a:rPr lang="en-US" b="1" dirty="0"/>
              <a:t>monotonous output</a:t>
            </a:r>
            <a:endParaRPr lang="en-US" dirty="0"/>
          </a:p>
          <a:p>
            <a:endParaRPr lang="en-IN" b="1" dirty="0"/>
          </a:p>
          <a:p>
            <a:endParaRPr lang="en-IN" dirty="0"/>
          </a:p>
        </p:txBody>
      </p:sp>
      <p:pic>
        <p:nvPicPr>
          <p:cNvPr id="4" name="Picture 3"/>
          <p:cNvPicPr>
            <a:picLocks noChangeAspect="1"/>
          </p:cNvPicPr>
          <p:nvPr/>
        </p:nvPicPr>
        <p:blipFill>
          <a:blip r:embed="rId2"/>
          <a:stretch>
            <a:fillRect/>
          </a:stretch>
        </p:blipFill>
        <p:spPr>
          <a:xfrm>
            <a:off x="8648700" y="3937136"/>
            <a:ext cx="2705100" cy="2733675"/>
          </a:xfrm>
          <a:prstGeom prst="rect">
            <a:avLst/>
          </a:prstGeom>
        </p:spPr>
      </p:pic>
    </p:spTree>
    <p:extLst>
      <p:ext uri="{BB962C8B-B14F-4D97-AF65-F5344CB8AC3E}">
        <p14:creationId xmlns:p14="http://schemas.microsoft.com/office/powerpoint/2010/main" val="1194983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In the process of training, the </a:t>
            </a:r>
            <a:r>
              <a:rPr lang="en-US" b="1" dirty="0"/>
              <a:t>generator is always trying to find the one output</a:t>
            </a:r>
            <a:r>
              <a:rPr lang="en-US" dirty="0"/>
              <a:t> that seems most plausible to the discriminator.</a:t>
            </a:r>
          </a:p>
          <a:p>
            <a:r>
              <a:rPr lang="en-US" dirty="0"/>
              <a:t>Because of that, the </a:t>
            </a:r>
            <a:r>
              <a:rPr lang="en-US" b="1" dirty="0"/>
              <a:t>discriminator’s best strategy is always to reject the output </a:t>
            </a:r>
            <a:r>
              <a:rPr lang="en-US" dirty="0"/>
              <a:t>of the generator. </a:t>
            </a:r>
          </a:p>
          <a:p>
            <a:r>
              <a:rPr lang="en-US" dirty="0"/>
              <a:t>But if the next generation of discriminator gets stuck in a local minimum and doesn’t find its way out by getting its weights even more optimized, it’d get easy for the next generator iteration to find the most plausible output for the current discriminator. </a:t>
            </a:r>
          </a:p>
          <a:p>
            <a:endParaRPr lang="en-IN" dirty="0"/>
          </a:p>
        </p:txBody>
      </p:sp>
    </p:spTree>
    <p:extLst>
      <p:ext uri="{BB962C8B-B14F-4D97-AF65-F5344CB8AC3E}">
        <p14:creationId xmlns:p14="http://schemas.microsoft.com/office/powerpoint/2010/main" val="2752434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Vanishing Gradients</a:t>
            </a:r>
            <a:br>
              <a:rPr lang="en-US" b="1" dirty="0"/>
            </a:br>
            <a:endParaRPr lang="en-IN" dirty="0"/>
          </a:p>
        </p:txBody>
      </p:sp>
      <p:sp>
        <p:nvSpPr>
          <p:cNvPr id="3" name="Content Placeholder 2"/>
          <p:cNvSpPr>
            <a:spLocks noGrp="1"/>
          </p:cNvSpPr>
          <p:nvPr>
            <p:ph idx="1"/>
          </p:nvPr>
        </p:nvSpPr>
        <p:spPr/>
        <p:txBody>
          <a:bodyPr/>
          <a:lstStyle/>
          <a:p>
            <a:r>
              <a:rPr lang="en-US" dirty="0"/>
              <a:t>This phenomenon happens when the discriminator performs significantly better than the generator. Either the updates to the discriminator are inaccurate, or they disappear. </a:t>
            </a:r>
          </a:p>
          <a:p>
            <a:r>
              <a:rPr lang="en-US" dirty="0"/>
              <a:t>One of the proposed reasons for this is that the generator gets heavily penalized, which leads to saturation in the value post-activation function, and the eventual gradient vanishing.</a:t>
            </a:r>
          </a:p>
          <a:p>
            <a:endParaRPr lang="en-IN" dirty="0"/>
          </a:p>
        </p:txBody>
      </p:sp>
    </p:spTree>
    <p:extLst>
      <p:ext uri="{BB962C8B-B14F-4D97-AF65-F5344CB8AC3E}">
        <p14:creationId xmlns:p14="http://schemas.microsoft.com/office/powerpoint/2010/main" val="2826100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Wasserstein Generative Adversarial Network (WGAN)</a:t>
            </a:r>
            <a:br>
              <a:rPr lang="en-US" b="1" dirty="0"/>
            </a:br>
            <a:endParaRPr lang="en-IN" dirty="0"/>
          </a:p>
        </p:txBody>
      </p:sp>
      <p:sp>
        <p:nvSpPr>
          <p:cNvPr id="3" name="Content Placeholder 2"/>
          <p:cNvSpPr>
            <a:spLocks noGrp="1"/>
          </p:cNvSpPr>
          <p:nvPr>
            <p:ph idx="1"/>
          </p:nvPr>
        </p:nvSpPr>
        <p:spPr>
          <a:xfrm>
            <a:off x="653143" y="1476103"/>
            <a:ext cx="10700657" cy="4700860"/>
          </a:xfrm>
        </p:spPr>
        <p:txBody>
          <a:bodyPr>
            <a:normAutofit fontScale="85000" lnSpcReduction="20000"/>
          </a:bodyPr>
          <a:lstStyle/>
          <a:p>
            <a:r>
              <a:rPr lang="en-US" dirty="0"/>
              <a:t>This is one of the most powerful alternatives to the original GAN loss. It </a:t>
            </a:r>
            <a:r>
              <a:rPr lang="en-US" b="1" dirty="0"/>
              <a:t>tackles the problem of Mode Collapse and Vanishing Gradient. </a:t>
            </a:r>
            <a:endParaRPr lang="en-US" dirty="0"/>
          </a:p>
          <a:p>
            <a:r>
              <a:rPr lang="en-US" dirty="0"/>
              <a:t>In this implementation, the </a:t>
            </a:r>
            <a:r>
              <a:rPr lang="en-US" b="1" dirty="0"/>
              <a:t>activation of the output layer of the discriminator is changed from sigmoid to a linear one</a:t>
            </a:r>
            <a:r>
              <a:rPr lang="en-US" dirty="0"/>
              <a:t>. This simple  change influences the discriminator to give out a score instead of a probability associated with data distribution, so the output does not have to be in the range of 0 to 1. </a:t>
            </a:r>
          </a:p>
          <a:p>
            <a:r>
              <a:rPr lang="en-US" dirty="0"/>
              <a:t>Here, the discriminator is called critique instead, because it doesn’t actually classify the data strictly as real or fake, it simply gives them a rating. </a:t>
            </a:r>
          </a:p>
          <a:p>
            <a:r>
              <a:rPr lang="en-US" dirty="0"/>
              <a:t>Following loss functions are used to </a:t>
            </a:r>
            <a:r>
              <a:rPr lang="en-US" b="1" dirty="0"/>
              <a:t>train the critique and the generator</a:t>
            </a:r>
            <a:r>
              <a:rPr lang="en-US" dirty="0"/>
              <a:t>, respectively. </a:t>
            </a:r>
          </a:p>
          <a:p>
            <a:r>
              <a:rPr lang="en-US" dirty="0"/>
              <a:t>The output of the critique and the generator is not in probabilistic terms (between 0 and 1), so the absolute difference between critique and generator outputs is maximized while training the critique network. </a:t>
            </a:r>
          </a:p>
          <a:p>
            <a:r>
              <a:rPr lang="en-US" dirty="0"/>
              <a:t>Similarly, the absolute value of the generator function is maximized while training the generator network. </a:t>
            </a:r>
          </a:p>
          <a:p>
            <a:endParaRPr lang="en-IN" dirty="0"/>
          </a:p>
        </p:txBody>
      </p:sp>
    </p:spTree>
    <p:extLst>
      <p:ext uri="{BB962C8B-B14F-4D97-AF65-F5344CB8AC3E}">
        <p14:creationId xmlns:p14="http://schemas.microsoft.com/office/powerpoint/2010/main" val="4192093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err="1"/>
              <a:t>CycleGAN</a:t>
            </a:r>
            <a:endParaRPr lang="en-IN" dirty="0"/>
          </a:p>
          <a:p>
            <a:r>
              <a:rPr lang="en-IN" dirty="0" err="1"/>
              <a:t>StyleGAN</a:t>
            </a:r>
            <a:endParaRPr lang="en-IN" dirty="0"/>
          </a:p>
          <a:p>
            <a:r>
              <a:rPr lang="en-IN" dirty="0" err="1"/>
              <a:t>pixelRNN</a:t>
            </a:r>
            <a:endParaRPr lang="en-IN" dirty="0"/>
          </a:p>
          <a:p>
            <a:r>
              <a:rPr lang="en-IN" dirty="0"/>
              <a:t>text-2-image</a:t>
            </a:r>
          </a:p>
          <a:p>
            <a:r>
              <a:rPr lang="en-IN" dirty="0" err="1"/>
              <a:t>DiscoGAN</a:t>
            </a:r>
            <a:endParaRPr lang="en-IN" dirty="0"/>
          </a:p>
          <a:p>
            <a:r>
              <a:rPr lang="en-IN" dirty="0" err="1"/>
              <a:t>lsGAN</a:t>
            </a:r>
            <a:endParaRPr lang="en-IN" dirty="0"/>
          </a:p>
          <a:p>
            <a:r>
              <a:rPr lang="en-US" dirty="0"/>
              <a:t>SRGAN</a:t>
            </a:r>
          </a:p>
          <a:p>
            <a:r>
              <a:rPr lang="en-IN" dirty="0" err="1"/>
              <a:t>InfoGAN</a:t>
            </a:r>
            <a:endParaRPr lang="en-IN" dirty="0"/>
          </a:p>
          <a:p>
            <a:endParaRPr lang="en-IN" dirty="0"/>
          </a:p>
          <a:p>
            <a:endParaRPr lang="en-IN" dirty="0"/>
          </a:p>
        </p:txBody>
      </p:sp>
    </p:spTree>
    <p:extLst>
      <p:ext uri="{BB962C8B-B14F-4D97-AF65-F5344CB8AC3E}">
        <p14:creationId xmlns:p14="http://schemas.microsoft.com/office/powerpoint/2010/main" val="3174222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Deep Convolutional GAN</a:t>
            </a:r>
            <a:endParaRPr lang="en-IN" dirty="0"/>
          </a:p>
        </p:txBody>
      </p:sp>
      <p:sp>
        <p:nvSpPr>
          <p:cNvPr id="3" name="Content Placeholder 2"/>
          <p:cNvSpPr>
            <a:spLocks noGrp="1"/>
          </p:cNvSpPr>
          <p:nvPr>
            <p:ph idx="1"/>
          </p:nvPr>
        </p:nvSpPr>
        <p:spPr>
          <a:xfrm>
            <a:off x="720635" y="1472928"/>
            <a:ext cx="10515600" cy="4351338"/>
          </a:xfrm>
        </p:spPr>
        <p:txBody>
          <a:bodyPr/>
          <a:lstStyle/>
          <a:p>
            <a:endParaRPr lang="en-US" b="1" dirty="0"/>
          </a:p>
          <a:p>
            <a:r>
              <a:rPr lang="en-US" dirty="0"/>
              <a:t>DCGANs are an improvement of GANs that use convolutional neural nets. </a:t>
            </a:r>
          </a:p>
          <a:p>
            <a:r>
              <a:rPr lang="en-US" dirty="0"/>
              <a:t>CNNs are good for extracting important features and representation from the data, making them more stable and enabling them to generate higher quality images. </a:t>
            </a:r>
          </a:p>
          <a:p>
            <a:endParaRPr lang="en-IN" dirty="0"/>
          </a:p>
        </p:txBody>
      </p:sp>
      <p:pic>
        <p:nvPicPr>
          <p:cNvPr id="4" name="Picture 3"/>
          <p:cNvPicPr>
            <a:picLocks noChangeAspect="1"/>
          </p:cNvPicPr>
          <p:nvPr/>
        </p:nvPicPr>
        <p:blipFill>
          <a:blip r:embed="rId2"/>
          <a:stretch>
            <a:fillRect/>
          </a:stretch>
        </p:blipFill>
        <p:spPr>
          <a:xfrm>
            <a:off x="1828800" y="4357142"/>
            <a:ext cx="9525000" cy="2219325"/>
          </a:xfrm>
          <a:prstGeom prst="rect">
            <a:avLst/>
          </a:prstGeom>
        </p:spPr>
      </p:pic>
    </p:spTree>
    <p:extLst>
      <p:ext uri="{BB962C8B-B14F-4D97-AF65-F5344CB8AC3E}">
        <p14:creationId xmlns:p14="http://schemas.microsoft.com/office/powerpoint/2010/main" val="1296526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Conditional GAN</a:t>
            </a:r>
            <a:endParaRPr lang="en-IN" dirty="0"/>
          </a:p>
        </p:txBody>
      </p:sp>
      <p:sp>
        <p:nvSpPr>
          <p:cNvPr id="3" name="Content Placeholder 2"/>
          <p:cNvSpPr>
            <a:spLocks noGrp="1"/>
          </p:cNvSpPr>
          <p:nvPr>
            <p:ph idx="1"/>
          </p:nvPr>
        </p:nvSpPr>
        <p:spPr/>
        <p:txBody>
          <a:bodyPr>
            <a:normAutofit fontScale="92500"/>
          </a:bodyPr>
          <a:lstStyle/>
          <a:p>
            <a:r>
              <a:rPr lang="en-US" dirty="0"/>
              <a:t>Conditional GANs train on a labeled data set and let you specify the label for each generated instance. For example, an unconditional MNIST GAN would produce random digits, while a conditional MNIST GAN would let you specify which digit the GAN should generate.</a:t>
            </a:r>
          </a:p>
          <a:p>
            <a:r>
              <a:rPr lang="en-US" dirty="0"/>
              <a:t>Instead of modeling the joint probability P(X, Y), conditional GANs model the conditional probability P(X | Y).</a:t>
            </a:r>
          </a:p>
          <a:p>
            <a:r>
              <a:rPr lang="en-US" b="1" dirty="0"/>
              <a:t>Application:</a:t>
            </a:r>
            <a:endParaRPr lang="en-US" dirty="0"/>
          </a:p>
          <a:p>
            <a:r>
              <a:rPr lang="en-US" dirty="0"/>
              <a:t>Image-to-image translation</a:t>
            </a:r>
          </a:p>
          <a:p>
            <a:r>
              <a:rPr lang="en-US" dirty="0"/>
              <a:t>Text-to-image synthesis</a:t>
            </a:r>
          </a:p>
          <a:p>
            <a:r>
              <a:rPr lang="en-US" dirty="0"/>
              <a:t>Video generation</a:t>
            </a:r>
          </a:p>
          <a:p>
            <a:endParaRPr lang="en-US" dirty="0"/>
          </a:p>
          <a:p>
            <a:endParaRPr lang="en-IN" dirty="0"/>
          </a:p>
        </p:txBody>
      </p:sp>
    </p:spTree>
    <p:extLst>
      <p:ext uri="{BB962C8B-B14F-4D97-AF65-F5344CB8AC3E}">
        <p14:creationId xmlns:p14="http://schemas.microsoft.com/office/powerpoint/2010/main" val="1444499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a:t>Image-to-Image Translation(Pix2Pix GAN)</a:t>
            </a:r>
            <a:br>
              <a:rPr lang="en-IN" sz="3100" b="1" dirty="0"/>
            </a:br>
            <a:br>
              <a:rPr lang="en-IN" b="1" dirty="0"/>
            </a:br>
            <a:endParaRPr lang="en-IN" dirty="0"/>
          </a:p>
        </p:txBody>
      </p:sp>
      <p:sp>
        <p:nvSpPr>
          <p:cNvPr id="3" name="Content Placeholder 2"/>
          <p:cNvSpPr>
            <a:spLocks noGrp="1"/>
          </p:cNvSpPr>
          <p:nvPr>
            <p:ph idx="1"/>
          </p:nvPr>
        </p:nvSpPr>
        <p:spPr>
          <a:xfrm>
            <a:off x="472440" y="1120230"/>
            <a:ext cx="5810794" cy="5463450"/>
          </a:xfrm>
        </p:spPr>
        <p:txBody>
          <a:bodyPr>
            <a:normAutofit fontScale="92500" lnSpcReduction="10000"/>
          </a:bodyPr>
          <a:lstStyle/>
          <a:p>
            <a:r>
              <a:rPr lang="en-US" dirty="0"/>
              <a:t>Image-to-Image translation GANs take an image as input and map it to a generated output image with different properties. For example, we can take a mask image with blob of color in the shape of a car, and the GAN can fill in the shape with photorealistic car details.</a:t>
            </a:r>
          </a:p>
          <a:p>
            <a:r>
              <a:rPr lang="en-US" dirty="0"/>
              <a:t>Similarly, you can train an image-to-image GAN to take sketches of handbags and turn them into photorealistic images of handbags.</a:t>
            </a:r>
          </a:p>
          <a:p>
            <a:r>
              <a:rPr lang="en-US" dirty="0"/>
              <a:t>loss is a weighted combination of the usual discriminator-based loss and a pixel-wise loss that penalizes the generator for departing from the source image.</a:t>
            </a:r>
          </a:p>
          <a:p>
            <a:endParaRPr lang="en-IN" dirty="0"/>
          </a:p>
        </p:txBody>
      </p:sp>
      <p:pic>
        <p:nvPicPr>
          <p:cNvPr id="4" name="Picture 3"/>
          <p:cNvPicPr>
            <a:picLocks noChangeAspect="1"/>
          </p:cNvPicPr>
          <p:nvPr/>
        </p:nvPicPr>
        <p:blipFill>
          <a:blip r:embed="rId2"/>
          <a:stretch>
            <a:fillRect/>
          </a:stretch>
        </p:blipFill>
        <p:spPr>
          <a:xfrm>
            <a:off x="6905625" y="1273357"/>
            <a:ext cx="4448175" cy="4876800"/>
          </a:xfrm>
          <a:prstGeom prst="rect">
            <a:avLst/>
          </a:prstGeom>
        </p:spPr>
      </p:pic>
    </p:spTree>
    <p:extLst>
      <p:ext uri="{BB962C8B-B14F-4D97-AF65-F5344CB8AC3E}">
        <p14:creationId xmlns:p14="http://schemas.microsoft.com/office/powerpoint/2010/main" val="4054170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056" y="1598792"/>
            <a:ext cx="10515600" cy="4351338"/>
          </a:xfrm>
        </p:spPr>
        <p:txBody>
          <a:bodyPr/>
          <a:lstStyle/>
          <a:p>
            <a:r>
              <a:rPr lang="en-US" dirty="0" err="1"/>
              <a:t>CycleGANs</a:t>
            </a:r>
            <a:r>
              <a:rPr lang="en-US" dirty="0"/>
              <a:t> learn to transform images from one set into images that could plausibly belong to another set. For example, a </a:t>
            </a:r>
            <a:r>
              <a:rPr lang="en-US" dirty="0" err="1"/>
              <a:t>CycleGAN</a:t>
            </a:r>
            <a:r>
              <a:rPr lang="en-US" dirty="0"/>
              <a:t> produced the </a:t>
            </a:r>
            <a:r>
              <a:rPr lang="en-US" dirty="0" err="1"/>
              <a:t>righthand</a:t>
            </a:r>
            <a:r>
              <a:rPr lang="en-US" dirty="0"/>
              <a:t> image below when given the </a:t>
            </a:r>
            <a:r>
              <a:rPr lang="en-US" dirty="0" err="1"/>
              <a:t>lefthand</a:t>
            </a:r>
            <a:r>
              <a:rPr lang="en-US" dirty="0"/>
              <a:t> image as input. It took an image of a horse and turned it into an image of a zebra.</a:t>
            </a:r>
          </a:p>
          <a:p>
            <a:r>
              <a:rPr lang="en-US" dirty="0"/>
              <a:t>The training data for the </a:t>
            </a:r>
            <a:r>
              <a:rPr lang="en-US" dirty="0" err="1"/>
              <a:t>CycleGAN</a:t>
            </a:r>
            <a:r>
              <a:rPr lang="en-US" dirty="0"/>
              <a:t> is simply two sets of images (in this case, a set of horse images and a set of zebra images). The system requires no labels or pairwise correspondences between images.</a:t>
            </a:r>
            <a:endParaRPr lang="en-IN" dirty="0"/>
          </a:p>
        </p:txBody>
      </p:sp>
      <p:sp>
        <p:nvSpPr>
          <p:cNvPr id="4" name="Rectangle 1"/>
          <p:cNvSpPr>
            <a:spLocks noGrp="1" noChangeArrowheads="1"/>
          </p:cNvSpPr>
          <p:nvPr>
            <p:ph type="title"/>
          </p:nvPr>
        </p:nvSpPr>
        <p:spPr bwMode="auto">
          <a:xfrm>
            <a:off x="838200" y="504689"/>
            <a:ext cx="2945037" cy="104644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rgbClr val="202124"/>
                </a:solidFill>
                <a:effectLst/>
                <a:latin typeface="Arial" panose="020B0604020202020204" pitchFamily="34" charset="0"/>
              </a:rPr>
              <a:t>CycleGAN</a:t>
            </a:r>
            <a:endParaRPr kumimoji="0" lang="en-US" altLang="en-US" b="1" i="0" u="none" strike="noStrike" cap="none" normalizeH="0" baseline="0" dirty="0">
              <a:ln>
                <a:noFill/>
              </a:ln>
              <a:solidFill>
                <a:srgbClr val="202124"/>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6987131" y="5192893"/>
            <a:ext cx="4200525" cy="1514475"/>
          </a:xfrm>
          <a:prstGeom prst="rect">
            <a:avLst/>
          </a:prstGeom>
        </p:spPr>
      </p:pic>
    </p:spTree>
    <p:extLst>
      <p:ext uri="{BB962C8B-B14F-4D97-AF65-F5344CB8AC3E}">
        <p14:creationId xmlns:p14="http://schemas.microsoft.com/office/powerpoint/2010/main" val="921322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StyleGAN</a:t>
            </a:r>
            <a:br>
              <a:rPr lang="en-IN" b="1" dirty="0"/>
            </a:br>
            <a:endParaRPr lang="en-IN" dirty="0"/>
          </a:p>
        </p:txBody>
      </p:sp>
      <p:sp>
        <p:nvSpPr>
          <p:cNvPr id="3" name="Content Placeholder 2"/>
          <p:cNvSpPr>
            <a:spLocks noGrp="1"/>
          </p:cNvSpPr>
          <p:nvPr>
            <p:ph idx="1"/>
          </p:nvPr>
        </p:nvSpPr>
        <p:spPr>
          <a:xfrm>
            <a:off x="681446" y="1027906"/>
            <a:ext cx="10515600" cy="4351338"/>
          </a:xfrm>
        </p:spPr>
        <p:txBody>
          <a:bodyPr/>
          <a:lstStyle/>
          <a:p>
            <a:pPr algn="just"/>
            <a:r>
              <a:rPr lang="en-US" dirty="0"/>
              <a:t> </a:t>
            </a:r>
            <a:r>
              <a:rPr lang="en-US" sz="2400" b="1" i="1" dirty="0"/>
              <a:t>The idea is to build a stack of layers where initial layers are capable of generating low-resolution images (starting from 2*2) and further layers gradually increase the resolution.</a:t>
            </a:r>
          </a:p>
          <a:p>
            <a:pPr algn="just"/>
            <a:r>
              <a:rPr lang="en-US" sz="2400" dirty="0"/>
              <a:t>The easiest way for GAN to generate high-resolution images is to remember images from the training dataset and while generating new images it can add random noise to an existing image. </a:t>
            </a:r>
          </a:p>
          <a:p>
            <a:pPr algn="just"/>
            <a:r>
              <a:rPr lang="en-US" sz="2400" dirty="0"/>
              <a:t>In reality, </a:t>
            </a:r>
            <a:r>
              <a:rPr lang="en-US" sz="2400" dirty="0" err="1"/>
              <a:t>StyleGAN</a:t>
            </a:r>
            <a:r>
              <a:rPr lang="en-US" sz="2400" dirty="0"/>
              <a:t> doesn’t do that rather it learn features regarding human face and generates a new image of the human face that doesn’t exist in reality.</a:t>
            </a:r>
            <a:endParaRPr lang="en-IN" sz="2400" dirty="0"/>
          </a:p>
        </p:txBody>
      </p:sp>
      <p:pic>
        <p:nvPicPr>
          <p:cNvPr id="4" name="Picture 3"/>
          <p:cNvPicPr>
            <a:picLocks noChangeAspect="1"/>
          </p:cNvPicPr>
          <p:nvPr/>
        </p:nvPicPr>
        <p:blipFill>
          <a:blip r:embed="rId2"/>
          <a:stretch>
            <a:fillRect/>
          </a:stretch>
        </p:blipFill>
        <p:spPr>
          <a:xfrm>
            <a:off x="5753100" y="4330201"/>
            <a:ext cx="5600700" cy="2800350"/>
          </a:xfrm>
          <a:prstGeom prst="rect">
            <a:avLst/>
          </a:prstGeom>
        </p:spPr>
      </p:pic>
    </p:spTree>
    <p:extLst>
      <p:ext uri="{BB962C8B-B14F-4D97-AF65-F5344CB8AC3E}">
        <p14:creationId xmlns:p14="http://schemas.microsoft.com/office/powerpoint/2010/main" val="3832162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StarGAN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470562" y="1988004"/>
            <a:ext cx="7832369" cy="3589836"/>
          </a:xfrm>
          <a:prstGeom prst="rect">
            <a:avLst/>
          </a:prstGeom>
        </p:spPr>
      </p:pic>
    </p:spTree>
    <p:extLst>
      <p:ext uri="{BB962C8B-B14F-4D97-AF65-F5344CB8AC3E}">
        <p14:creationId xmlns:p14="http://schemas.microsoft.com/office/powerpoint/2010/main" val="2841750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text-2-image</a:t>
            </a:r>
            <a:br>
              <a:rPr lang="en-IN" b="1" dirty="0"/>
            </a:br>
            <a:endParaRPr lang="en-IN" dirty="0"/>
          </a:p>
        </p:txBody>
      </p:sp>
      <p:sp>
        <p:nvSpPr>
          <p:cNvPr id="3" name="Content Placeholder 2"/>
          <p:cNvSpPr>
            <a:spLocks noGrp="1"/>
          </p:cNvSpPr>
          <p:nvPr>
            <p:ph idx="1"/>
          </p:nvPr>
        </p:nvSpPr>
        <p:spPr/>
        <p:txBody>
          <a:bodyPr/>
          <a:lstStyle/>
          <a:p>
            <a:endParaRPr lang="en-US" dirty="0"/>
          </a:p>
          <a:p>
            <a:r>
              <a:rPr lang="en-US" i="1" dirty="0"/>
              <a:t>Instead of giving only noise as input to the Generator, the textual description is first transformed into a text embedding, concatenated with noise vector and then given as input to the Generator.</a:t>
            </a:r>
            <a:endParaRPr lang="en-IN" dirty="0"/>
          </a:p>
        </p:txBody>
      </p:sp>
      <p:pic>
        <p:nvPicPr>
          <p:cNvPr id="4" name="Picture 3"/>
          <p:cNvPicPr>
            <a:picLocks noChangeAspect="1"/>
          </p:cNvPicPr>
          <p:nvPr/>
        </p:nvPicPr>
        <p:blipFill>
          <a:blip r:embed="rId2"/>
          <a:stretch>
            <a:fillRect/>
          </a:stretch>
        </p:blipFill>
        <p:spPr>
          <a:xfrm>
            <a:off x="1182869" y="1204913"/>
            <a:ext cx="5724525" cy="971550"/>
          </a:xfrm>
          <a:prstGeom prst="rect">
            <a:avLst/>
          </a:prstGeom>
        </p:spPr>
      </p:pic>
      <p:sp>
        <p:nvSpPr>
          <p:cNvPr id="7" name="TextBox 6"/>
          <p:cNvSpPr txBox="1"/>
          <p:nvPr/>
        </p:nvSpPr>
        <p:spPr>
          <a:xfrm>
            <a:off x="1313497" y="3239589"/>
            <a:ext cx="5724525" cy="1724297"/>
          </a:xfrm>
          <a:prstGeom prst="rect">
            <a:avLst/>
          </a:prstGeom>
          <a:noFill/>
        </p:spPr>
        <p:txBody>
          <a:bodyPr wrap="square" rtlCol="0">
            <a:spAutoFit/>
          </a:bodyPr>
          <a:lstStyle/>
          <a:p>
            <a:endParaRPr lang="en-IN" dirty="0"/>
          </a:p>
        </p:txBody>
      </p:sp>
      <p:pic>
        <p:nvPicPr>
          <p:cNvPr id="10" name="Picture 9"/>
          <p:cNvPicPr>
            <a:picLocks noChangeAspect="1"/>
          </p:cNvPicPr>
          <p:nvPr/>
        </p:nvPicPr>
        <p:blipFill>
          <a:blip r:embed="rId3"/>
          <a:stretch>
            <a:fillRect/>
          </a:stretch>
        </p:blipFill>
        <p:spPr>
          <a:xfrm>
            <a:off x="3377429" y="3779339"/>
            <a:ext cx="5724525" cy="2571750"/>
          </a:xfrm>
          <a:prstGeom prst="rect">
            <a:avLst/>
          </a:prstGeom>
        </p:spPr>
      </p:pic>
    </p:spTree>
    <p:extLst>
      <p:ext uri="{BB962C8B-B14F-4D97-AF65-F5344CB8AC3E}">
        <p14:creationId xmlns:p14="http://schemas.microsoft.com/office/powerpoint/2010/main" val="3934911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1074"/>
            <a:ext cx="10515600" cy="5745889"/>
          </a:xfrm>
        </p:spPr>
        <p:txBody>
          <a:bodyPr/>
          <a:lstStyle/>
          <a:p>
            <a:r>
              <a:rPr lang="en-US" dirty="0"/>
              <a:t>For the Discriminator, instead of having the only image as input, a pair of image and text embedding are sent as input.</a:t>
            </a:r>
          </a:p>
          <a:p>
            <a:r>
              <a:rPr lang="en-US" dirty="0"/>
              <a:t> Output signals are either 0 or 1. Earlier the Discriminator’s responsibility was just to predict whether a given image is real or fake.</a:t>
            </a:r>
          </a:p>
          <a:p>
            <a:r>
              <a:rPr lang="en-US" b="1" i="1" dirty="0"/>
              <a:t>Now, the Discriminator has one more additional responsibility. </a:t>
            </a:r>
          </a:p>
          <a:p>
            <a:r>
              <a:rPr lang="en-US" b="1" i="1" dirty="0"/>
              <a:t>Along with identifying the given image is read or fake, it also predicts the likelihood of whether the given image and text aligned with each other.</a:t>
            </a:r>
          </a:p>
          <a:p>
            <a:r>
              <a:rPr lang="en-US" dirty="0"/>
              <a:t>This formulation force the Generator to not only generate images that look real but also to generate images that are aligned with the input textual description.</a:t>
            </a:r>
          </a:p>
          <a:p>
            <a:br>
              <a:rPr lang="en-US" dirty="0"/>
            </a:br>
            <a:endParaRPr lang="en-IN" dirty="0"/>
          </a:p>
        </p:txBody>
      </p:sp>
    </p:spTree>
    <p:extLst>
      <p:ext uri="{BB962C8B-B14F-4D97-AF65-F5344CB8AC3E}">
        <p14:creationId xmlns:p14="http://schemas.microsoft.com/office/powerpoint/2010/main" val="1232204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304017" y="2009911"/>
            <a:ext cx="7307389" cy="3489552"/>
          </a:xfrm>
          <a:prstGeom prst="rect">
            <a:avLst/>
          </a:prstGeom>
        </p:spPr>
      </p:pic>
    </p:spTree>
    <p:extLst>
      <p:ext uri="{BB962C8B-B14F-4D97-AF65-F5344CB8AC3E}">
        <p14:creationId xmlns:p14="http://schemas.microsoft.com/office/powerpoint/2010/main" val="3181883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96389"/>
            <a:ext cx="11353800" cy="5680574"/>
          </a:xfrm>
        </p:spPr>
        <p:txBody>
          <a:bodyPr>
            <a:normAutofit fontScale="92500" lnSpcReduction="10000"/>
          </a:bodyPr>
          <a:lstStyle/>
          <a:p>
            <a:r>
              <a:rPr lang="en-US" dirty="0"/>
              <a:t>To fulfill the purpose of the 2-fold responsibility of the Discriminator, during training time, a series of different (image, text) pairs are given as input to the model which are as follows:</a:t>
            </a:r>
          </a:p>
          <a:p>
            <a:pPr lvl="1"/>
            <a:r>
              <a:rPr lang="en-US" dirty="0"/>
              <a:t>Pair of (Real Image, Real Caption) as input and target variable is set to 1</a:t>
            </a:r>
          </a:p>
          <a:p>
            <a:pPr lvl="1"/>
            <a:r>
              <a:rPr lang="en-US" dirty="0"/>
              <a:t>Pair of (Wrong Image, Real Caption) as input and target variable is set to 0</a:t>
            </a:r>
          </a:p>
          <a:p>
            <a:pPr lvl="1"/>
            <a:r>
              <a:rPr lang="en-US" dirty="0"/>
              <a:t>Pair of (Fake Image, Real Caption) as input and target variable is set to 0 </a:t>
            </a:r>
          </a:p>
          <a:p>
            <a:r>
              <a:rPr lang="en-US" dirty="0"/>
              <a:t>The pair of Real Image and Real Caption are given so that the model learns whether a given image and text pair are aligned with each other.</a:t>
            </a:r>
          </a:p>
          <a:p>
            <a:r>
              <a:rPr lang="en-US" dirty="0"/>
              <a:t> The wrong Image, Read Caption means the image is not as described in the caption. </a:t>
            </a:r>
          </a:p>
          <a:p>
            <a:r>
              <a:rPr lang="en-US" dirty="0"/>
              <a:t>In this case, the target variable is set to 0 so that the model learns that the given image and caption are not aligned. </a:t>
            </a:r>
          </a:p>
          <a:p>
            <a:r>
              <a:rPr lang="en-US" dirty="0"/>
              <a:t>Here Fake Image means an image generated by the Generator, in this case, the target variable is set to 0 so that the Discriminator model can distinguish between real and fake images.</a:t>
            </a:r>
            <a:endParaRPr lang="en-IN" dirty="0"/>
          </a:p>
        </p:txBody>
      </p:sp>
    </p:spTree>
    <p:extLst>
      <p:ext uri="{BB962C8B-B14F-4D97-AF65-F5344CB8AC3E}">
        <p14:creationId xmlns:p14="http://schemas.microsoft.com/office/powerpoint/2010/main" val="3967985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258" y="401774"/>
            <a:ext cx="10515600" cy="4351338"/>
          </a:xfrm>
        </p:spPr>
        <p:txBody>
          <a:bodyPr/>
          <a:lstStyle/>
          <a:p>
            <a:r>
              <a:rPr lang="en-US" dirty="0"/>
              <a:t>The training dataset used for the training has image along with 10 different textual description that describes properties of the image.</a:t>
            </a:r>
            <a:endParaRPr lang="en-IN" dirty="0"/>
          </a:p>
        </p:txBody>
      </p:sp>
      <p:pic>
        <p:nvPicPr>
          <p:cNvPr id="4" name="Picture 3"/>
          <p:cNvPicPr>
            <a:picLocks noChangeAspect="1"/>
          </p:cNvPicPr>
          <p:nvPr/>
        </p:nvPicPr>
        <p:blipFill>
          <a:blip r:embed="rId2"/>
          <a:stretch>
            <a:fillRect/>
          </a:stretch>
        </p:blipFill>
        <p:spPr>
          <a:xfrm>
            <a:off x="1013793" y="1474605"/>
            <a:ext cx="9459017" cy="2561817"/>
          </a:xfrm>
          <a:prstGeom prst="rect">
            <a:avLst/>
          </a:prstGeom>
        </p:spPr>
      </p:pic>
      <p:pic>
        <p:nvPicPr>
          <p:cNvPr id="5" name="Picture 4"/>
          <p:cNvPicPr>
            <a:picLocks noChangeAspect="1"/>
          </p:cNvPicPr>
          <p:nvPr/>
        </p:nvPicPr>
        <p:blipFill>
          <a:blip r:embed="rId3"/>
          <a:stretch>
            <a:fillRect/>
          </a:stretch>
        </p:blipFill>
        <p:spPr>
          <a:xfrm>
            <a:off x="2606718" y="4612413"/>
            <a:ext cx="7216551" cy="1693068"/>
          </a:xfrm>
          <a:prstGeom prst="rect">
            <a:avLst/>
          </a:prstGeom>
        </p:spPr>
      </p:pic>
    </p:spTree>
    <p:extLst>
      <p:ext uri="{BB962C8B-B14F-4D97-AF65-F5344CB8AC3E}">
        <p14:creationId xmlns:p14="http://schemas.microsoft.com/office/powerpoint/2010/main" val="2455836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DiscoGAN</a:t>
            </a:r>
            <a:br>
              <a:rPr lang="en-IN" b="1" dirty="0"/>
            </a:br>
            <a:endParaRPr lang="en-IN" dirty="0"/>
          </a:p>
        </p:txBody>
      </p:sp>
      <p:sp>
        <p:nvSpPr>
          <p:cNvPr id="3" name="Content Placeholder 2"/>
          <p:cNvSpPr>
            <a:spLocks noGrp="1"/>
          </p:cNvSpPr>
          <p:nvPr>
            <p:ph idx="1"/>
          </p:nvPr>
        </p:nvSpPr>
        <p:spPr>
          <a:xfrm>
            <a:off x="838200" y="1132409"/>
            <a:ext cx="10515600" cy="4805363"/>
          </a:xfrm>
        </p:spPr>
        <p:txBody>
          <a:bodyPr>
            <a:normAutofit/>
          </a:bodyPr>
          <a:lstStyle/>
          <a:p>
            <a:r>
              <a:rPr lang="en-US" sz="2400" dirty="0"/>
              <a:t>given images of two different domains, a human can figure out how they are related to each other. </a:t>
            </a:r>
          </a:p>
          <a:p>
            <a:r>
              <a:rPr lang="en-US" sz="2400" dirty="0"/>
              <a:t>As an example, in the following figure,  we have images from 2 different domains and just by one glance at these images, we can figure out very easily that they are related by the nature of their exterior color.</a:t>
            </a:r>
          </a:p>
          <a:p>
            <a:r>
              <a:rPr lang="en-US" sz="2400" b="1" i="1" dirty="0"/>
              <a:t>The primary difference between </a:t>
            </a:r>
            <a:r>
              <a:rPr lang="en-US" sz="2400" b="1" i="1" dirty="0" err="1"/>
              <a:t>DiscoGAN</a:t>
            </a:r>
            <a:r>
              <a:rPr lang="en-US" sz="2400" b="1" i="1" dirty="0"/>
              <a:t> and </a:t>
            </a:r>
            <a:r>
              <a:rPr lang="en-US" sz="2400" b="1" i="1" dirty="0" err="1"/>
              <a:t>CycleGAN</a:t>
            </a:r>
            <a:r>
              <a:rPr lang="en-US" sz="2400" b="1" i="1" dirty="0"/>
              <a:t> is that </a:t>
            </a:r>
            <a:r>
              <a:rPr lang="en-US" sz="2400" b="1" i="1" dirty="0" err="1"/>
              <a:t>DiscoGAN</a:t>
            </a:r>
            <a:r>
              <a:rPr lang="en-US" sz="2400" b="1" i="1" dirty="0"/>
              <a:t> uses two reconstruction loss, one for both the domain whereas </a:t>
            </a:r>
            <a:r>
              <a:rPr lang="en-US" sz="2400" b="1" i="1" dirty="0" err="1"/>
              <a:t>CycleGAN</a:t>
            </a:r>
            <a:r>
              <a:rPr lang="en-US" sz="2400" b="1" i="1" dirty="0"/>
              <a:t> uses single cycle-consistency loss.</a:t>
            </a:r>
            <a:endParaRPr lang="en-US" sz="2400" dirty="0"/>
          </a:p>
          <a:p>
            <a:endParaRPr lang="en-IN" sz="2000" dirty="0"/>
          </a:p>
        </p:txBody>
      </p:sp>
      <p:pic>
        <p:nvPicPr>
          <p:cNvPr id="4" name="Picture 3"/>
          <p:cNvPicPr>
            <a:picLocks noChangeAspect="1"/>
          </p:cNvPicPr>
          <p:nvPr/>
        </p:nvPicPr>
        <p:blipFill>
          <a:blip r:embed="rId2"/>
          <a:stretch>
            <a:fillRect/>
          </a:stretch>
        </p:blipFill>
        <p:spPr>
          <a:xfrm>
            <a:off x="4195356" y="3999956"/>
            <a:ext cx="6858000" cy="2705100"/>
          </a:xfrm>
          <a:prstGeom prst="rect">
            <a:avLst/>
          </a:prstGeom>
        </p:spPr>
      </p:pic>
    </p:spTree>
    <p:extLst>
      <p:ext uri="{BB962C8B-B14F-4D97-AF65-F5344CB8AC3E}">
        <p14:creationId xmlns:p14="http://schemas.microsoft.com/office/powerpoint/2010/main" val="3106033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9451" y="418011"/>
            <a:ext cx="10844349" cy="5758952"/>
          </a:xfrm>
        </p:spPr>
        <p:txBody>
          <a:bodyPr>
            <a:normAutofit fontScale="92500" lnSpcReduction="10000"/>
          </a:bodyPr>
          <a:lstStyle/>
          <a:p>
            <a:r>
              <a:rPr lang="en-US" dirty="0"/>
              <a:t>Generate New Human Poses</a:t>
            </a:r>
          </a:p>
          <a:p>
            <a:r>
              <a:rPr lang="en-US" dirty="0"/>
              <a:t>GANs can generate images of people in new poses, such as difficult or impossible for humans to achieve. It can be used to create new content or to augment existing image datasets.</a:t>
            </a:r>
          </a:p>
          <a:p>
            <a:r>
              <a:rPr lang="en-US" dirty="0"/>
              <a:t>Photos to </a:t>
            </a:r>
            <a:r>
              <a:rPr lang="en-US" dirty="0" err="1"/>
              <a:t>Emojis</a:t>
            </a:r>
            <a:endParaRPr lang="en-US" dirty="0"/>
          </a:p>
          <a:p>
            <a:r>
              <a:rPr lang="en-US" dirty="0"/>
              <a:t>GANs can be used to convert photographs of people into </a:t>
            </a:r>
            <a:r>
              <a:rPr lang="en-US" dirty="0" err="1"/>
              <a:t>emojis</a:t>
            </a:r>
            <a:r>
              <a:rPr lang="en-US" dirty="0"/>
              <a:t>, creating a more personalized and expressive form of communication.</a:t>
            </a:r>
          </a:p>
          <a:p>
            <a:r>
              <a:rPr lang="en-US" dirty="0"/>
              <a:t>Photograph Editing</a:t>
            </a:r>
          </a:p>
          <a:p>
            <a:r>
              <a:rPr lang="en-US" dirty="0"/>
              <a:t>GANs can be used to edit photographs in various ways, such as changing the background, adding or removing objects, or altering the appearance of people or animals in the image.</a:t>
            </a:r>
          </a:p>
          <a:p>
            <a:r>
              <a:rPr lang="en-US" dirty="0"/>
              <a:t>Face Aging</a:t>
            </a:r>
          </a:p>
          <a:p>
            <a:r>
              <a:rPr lang="en-US" dirty="0"/>
              <a:t>GANs can be used to generate images of people at different ages, allowing users to visualize how they might look in the future or to see what they might have looked like in the past.</a:t>
            </a:r>
          </a:p>
          <a:p>
            <a:endParaRPr lang="en-IN" dirty="0"/>
          </a:p>
        </p:txBody>
      </p:sp>
    </p:spTree>
    <p:extLst>
      <p:ext uri="{BB962C8B-B14F-4D97-AF65-F5344CB8AC3E}">
        <p14:creationId xmlns:p14="http://schemas.microsoft.com/office/powerpoint/2010/main" val="1593549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46394" y="1825625"/>
            <a:ext cx="7414726" cy="3892731"/>
          </a:xfrm>
          <a:prstGeom prst="rect">
            <a:avLst/>
          </a:prstGeom>
        </p:spPr>
      </p:pic>
    </p:spTree>
    <p:extLst>
      <p:ext uri="{BB962C8B-B14F-4D97-AF65-F5344CB8AC3E}">
        <p14:creationId xmlns:p14="http://schemas.microsoft.com/office/powerpoint/2010/main" val="4025829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CGAN</a:t>
            </a:r>
            <a:endParaRPr lang="en-IN" dirty="0"/>
          </a:p>
        </p:txBody>
      </p:sp>
      <p:sp>
        <p:nvSpPr>
          <p:cNvPr id="3" name="Content Placeholder 2"/>
          <p:cNvSpPr>
            <a:spLocks noGrp="1"/>
          </p:cNvSpPr>
          <p:nvPr>
            <p:ph idx="1"/>
          </p:nvPr>
        </p:nvSpPr>
        <p:spPr/>
        <p:txBody>
          <a:bodyPr/>
          <a:lstStyle/>
          <a:p>
            <a:endParaRPr lang="en-IN"/>
          </a:p>
        </p:txBody>
      </p:sp>
      <p:pic>
        <p:nvPicPr>
          <p:cNvPr id="5122" name="Picture 2" descr="Example of Using a GAN to Remove Rain from Photograph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255" y="1825625"/>
            <a:ext cx="6096000" cy="491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983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StackedGAN</a:t>
            </a:r>
            <a:br>
              <a:rPr lang="en-US" b="1" dirty="0"/>
            </a:br>
            <a:endParaRPr lang="en-IN" dirty="0"/>
          </a:p>
        </p:txBody>
      </p:sp>
      <p:sp>
        <p:nvSpPr>
          <p:cNvPr id="3" name="Content Placeholder 2"/>
          <p:cNvSpPr>
            <a:spLocks noGrp="1"/>
          </p:cNvSpPr>
          <p:nvPr>
            <p:ph idx="1"/>
          </p:nvPr>
        </p:nvSpPr>
        <p:spPr>
          <a:xfrm>
            <a:off x="838200" y="1237796"/>
            <a:ext cx="10515600" cy="4351338"/>
          </a:xfrm>
        </p:spPr>
        <p:txBody>
          <a:bodyPr/>
          <a:lstStyle/>
          <a:p>
            <a:r>
              <a:rPr lang="en-US" dirty="0"/>
              <a:t>Stacked Generative Adversarial Networks (</a:t>
            </a:r>
            <a:r>
              <a:rPr lang="en-US" dirty="0" err="1"/>
              <a:t>StackGAN</a:t>
            </a:r>
            <a:r>
              <a:rPr lang="en-US" dirty="0"/>
              <a:t>) can generate images conditioned on text descriptions.</a:t>
            </a:r>
          </a:p>
          <a:p>
            <a:endParaRPr lang="en-IN" dirty="0"/>
          </a:p>
        </p:txBody>
      </p:sp>
      <p:pic>
        <p:nvPicPr>
          <p:cNvPr id="4" name="Picture 3"/>
          <p:cNvPicPr>
            <a:picLocks noChangeAspect="1"/>
          </p:cNvPicPr>
          <p:nvPr/>
        </p:nvPicPr>
        <p:blipFill>
          <a:blip r:embed="rId2"/>
          <a:stretch>
            <a:fillRect/>
          </a:stretch>
        </p:blipFill>
        <p:spPr>
          <a:xfrm>
            <a:off x="2638426" y="1957890"/>
            <a:ext cx="8334375" cy="4220842"/>
          </a:xfrm>
          <a:prstGeom prst="rect">
            <a:avLst/>
          </a:prstGeom>
        </p:spPr>
      </p:pic>
    </p:spTree>
    <p:extLst>
      <p:ext uri="{BB962C8B-B14F-4D97-AF65-F5344CB8AC3E}">
        <p14:creationId xmlns:p14="http://schemas.microsoft.com/office/powerpoint/2010/main" val="34266539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dirty="0"/>
              <a:t>The architecture comprises a stacked series of text and image GAN models. </a:t>
            </a:r>
          </a:p>
          <a:p>
            <a:r>
              <a:rPr lang="en-US" dirty="0"/>
              <a:t>It’s again a class of conditional GANs. It has two GANs, also known as stage-I GAN and stage-II GAN. </a:t>
            </a:r>
          </a:p>
          <a:p>
            <a:r>
              <a:rPr lang="en-US" dirty="0" err="1"/>
              <a:t>StackGAN</a:t>
            </a:r>
            <a:r>
              <a:rPr lang="en-US" dirty="0"/>
              <a:t> uses a sketch-refinement process where the first level generator, Stage-I GAN, is conditioned on text and generates a low-resolution image, i.e. the primitive shape and colors of the descriptive text. </a:t>
            </a:r>
          </a:p>
          <a:p>
            <a:r>
              <a:rPr lang="en-US" dirty="0"/>
              <a:t>The second level generator, Stage-II GAN, is conditioned both on the text and on the low-resolution image, which takes the stage-I results and adds compelling detail. </a:t>
            </a:r>
          </a:p>
          <a:p>
            <a:endParaRPr lang="en-IN" dirty="0"/>
          </a:p>
        </p:txBody>
      </p:sp>
    </p:spTree>
    <p:extLst>
      <p:ext uri="{BB962C8B-B14F-4D97-AF65-F5344CB8AC3E}">
        <p14:creationId xmlns:p14="http://schemas.microsoft.com/office/powerpoint/2010/main" val="37918991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a:t>
            </a:r>
            <a:endParaRPr lang="en-IN" dirty="0"/>
          </a:p>
        </p:txBody>
      </p:sp>
      <p:sp>
        <p:nvSpPr>
          <p:cNvPr id="3" name="Content Placeholder 2"/>
          <p:cNvSpPr>
            <a:spLocks noGrp="1"/>
          </p:cNvSpPr>
          <p:nvPr>
            <p:ph idx="1"/>
          </p:nvPr>
        </p:nvSpPr>
        <p:spPr/>
        <p:txBody>
          <a:bodyPr/>
          <a:lstStyle/>
          <a:p>
            <a:r>
              <a:rPr lang="en-US" dirty="0"/>
              <a:t>One issue is that GANs can be notoriously difficult to train. This is because the two networks in a GAN (the generator and the discriminator) are constantly competing against others, which can make training unstable and slow.</a:t>
            </a:r>
          </a:p>
          <a:p>
            <a:r>
              <a:rPr lang="en-US" dirty="0"/>
              <a:t>Additionally, GANs often require a large amount of training data in order to produce good results. This can be a problem if the dataset is not readily available or if it is too small.</a:t>
            </a:r>
          </a:p>
          <a:p>
            <a:r>
              <a:rPr lang="en-US" dirty="0"/>
              <a:t>Finally, GANs can be vulnerable to mode collapse, which is when the generator only produces a limited number of outputs instead of the variety that is desired.</a:t>
            </a:r>
          </a:p>
          <a:p>
            <a:endParaRPr lang="en-IN" dirty="0"/>
          </a:p>
        </p:txBody>
      </p:sp>
    </p:spTree>
    <p:extLst>
      <p:ext uri="{BB962C8B-B14F-4D97-AF65-F5344CB8AC3E}">
        <p14:creationId xmlns:p14="http://schemas.microsoft.com/office/powerpoint/2010/main" val="42469687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US" b="1" dirty="0"/>
              <a:t>Density Estimation</a:t>
            </a:r>
            <a:r>
              <a:rPr lang="en-US" dirty="0"/>
              <a:t>, we still cannot predict the accuracy of the density of the evaluated model and state that this image is denser enough to move forward with. These </a:t>
            </a:r>
            <a:r>
              <a:rPr lang="en-US" dirty="0" err="1"/>
              <a:t>metrices</a:t>
            </a:r>
            <a:r>
              <a:rPr lang="en-US" dirty="0"/>
              <a:t> of the data generated are still deciding manually.</a:t>
            </a:r>
          </a:p>
          <a:p>
            <a:pPr fontAlgn="base"/>
            <a:r>
              <a:rPr lang="en-US" dirty="0"/>
              <a:t>GANs are the elegant mechanism of Data Generation but due to </a:t>
            </a:r>
            <a:r>
              <a:rPr lang="en-US" b="1" dirty="0"/>
              <a:t>Unstable Training</a:t>
            </a:r>
            <a:r>
              <a:rPr lang="en-US" dirty="0"/>
              <a:t> and unsupervised </a:t>
            </a:r>
            <a:r>
              <a:rPr lang="en-US" dirty="0" err="1"/>
              <a:t>leanring</a:t>
            </a:r>
            <a:r>
              <a:rPr lang="en-US" dirty="0"/>
              <a:t> method it becomes harder to train and generate output.</a:t>
            </a:r>
          </a:p>
          <a:p>
            <a:endParaRPr lang="en-IN" dirty="0"/>
          </a:p>
        </p:txBody>
      </p:sp>
    </p:spTree>
    <p:extLst>
      <p:ext uri="{BB962C8B-B14F-4D97-AF65-F5344CB8AC3E}">
        <p14:creationId xmlns:p14="http://schemas.microsoft.com/office/powerpoint/2010/main" val="2864382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688</TotalTime>
  <Words>2924</Words>
  <Application>Microsoft Macintosh PowerPoint</Application>
  <PresentationFormat>Widescreen</PresentationFormat>
  <Paragraphs>169</Paragraphs>
  <Slides>41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41</vt:i4>
      </vt:variant>
    </vt:vector>
  </HeadingPairs>
  <TitlesOfParts>
    <vt:vector size="45" baseType="lpstr">
      <vt:lpstr>Arial</vt:lpstr>
      <vt:lpstr>Calibri</vt:lpstr>
      <vt:lpstr>Times New Roman</vt:lpstr>
      <vt:lpstr>Office Theme</vt:lpstr>
      <vt:lpstr>Module-6</vt:lpstr>
      <vt:lpstr>Introduction</vt:lpstr>
      <vt:lpstr>PowerPoint Presentation</vt:lpstr>
      <vt:lpstr>Generator</vt:lpstr>
      <vt:lpstr>PowerPoint Presentation</vt:lpstr>
      <vt:lpstr>PowerPoint Presentation</vt:lpstr>
      <vt:lpstr>PowerPoint Presentation</vt:lpstr>
      <vt:lpstr>PowerPoint Presentation</vt:lpstr>
      <vt:lpstr>PowerPoint Presentation</vt:lpstr>
      <vt:lpstr>Training &amp; Prediction of Generative Adversarial Networks (GANs) </vt:lpstr>
      <vt:lpstr>PowerPoint Presentation</vt:lpstr>
      <vt:lpstr>PowerPoint Presentation</vt:lpstr>
      <vt:lpstr>PowerPoint Presentation</vt:lpstr>
      <vt:lpstr>Generative Adversarial Networks (GANs) Loss Function </vt:lpstr>
      <vt:lpstr>PowerPoint Presentation</vt:lpstr>
      <vt:lpstr>Discriminator loss </vt:lpstr>
      <vt:lpstr>Generator loss </vt:lpstr>
      <vt:lpstr>Challenges of GAN</vt:lpstr>
      <vt:lpstr>PowerPoint Presentation</vt:lpstr>
      <vt:lpstr>Vanishing Gradients </vt:lpstr>
      <vt:lpstr>Wasserstein Generative Adversarial Network (WGAN) </vt:lpstr>
      <vt:lpstr>PowerPoint Presentation</vt:lpstr>
      <vt:lpstr>Deep Convolutional GAN</vt:lpstr>
      <vt:lpstr>Conditional GAN</vt:lpstr>
      <vt:lpstr>Image-to-Image Translation(Pix2Pix GAN)  </vt:lpstr>
      <vt:lpstr>CycleGAN </vt:lpstr>
      <vt:lpstr>StyleGAN </vt:lpstr>
      <vt:lpstr>StarGAN</vt:lpstr>
      <vt:lpstr>text-2-image </vt:lpstr>
      <vt:lpstr>PowerPoint Presentation</vt:lpstr>
      <vt:lpstr>PowerPoint Presentation</vt:lpstr>
      <vt:lpstr>PowerPoint Presentation</vt:lpstr>
      <vt:lpstr>PowerPoint Presentation</vt:lpstr>
      <vt:lpstr>DiscoGAN </vt:lpstr>
      <vt:lpstr>PowerPoint Presentation</vt:lpstr>
      <vt:lpstr>PowerPoint Presentation</vt:lpstr>
      <vt:lpstr>CGAN</vt:lpstr>
      <vt:lpstr>StackedGAN </vt:lpstr>
      <vt:lpstr>PowerPoint Presentation</vt:lpstr>
      <vt:lpstr>LIMITATIONS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Module-6</dc:title>
  <dc:creator>VIT-AP</dc:creator>
  <cp:lastModifiedBy>Sumathi Kanna</cp:lastModifiedBy>
  <cp:revision>25</cp:revision>
  <dcterms:created xsi:type="dcterms:W3CDTF">2023-05-02T05:20:02Z</dcterms:created>
  <dcterms:modified xsi:type="dcterms:W3CDTF">2024-11-05T09:17:25Z</dcterms:modified>
</cp:coreProperties>
</file>